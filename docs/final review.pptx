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8" r:id="rId2"/>
    <p:sldId id="269" r:id="rId3"/>
    <p:sldId id="329" r:id="rId4"/>
    <p:sldId id="332" r:id="rId5"/>
    <p:sldId id="338" r:id="rId6"/>
    <p:sldId id="333" r:id="rId7"/>
    <p:sldId id="334" r:id="rId8"/>
    <p:sldId id="335" r:id="rId9"/>
    <p:sldId id="336" r:id="rId10"/>
    <p:sldId id="337" r:id="rId11"/>
    <p:sldId id="339" r:id="rId12"/>
    <p:sldId id="33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660"/>
  </p:normalViewPr>
  <p:slideViewPr>
    <p:cSldViewPr snapToGrid="0">
      <p:cViewPr>
        <p:scale>
          <a:sx n="66" d="100"/>
          <a:sy n="66" d="100"/>
        </p:scale>
        <p:origin x="54" y="4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D8F27-F58E-BB2D-35F1-3B65CB34DBC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0F63123-0881-A4DA-6F7E-736D07BB17C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34DF7B4-4009-C53E-5477-7CCD33C117E9}"/>
              </a:ext>
            </a:extLst>
          </p:cNvPr>
          <p:cNvSpPr>
            <a:spLocks noGrp="1"/>
          </p:cNvSpPr>
          <p:nvPr>
            <p:ph type="dt" sz="half" idx="10"/>
          </p:nvPr>
        </p:nvSpPr>
        <p:spPr/>
        <p:txBody>
          <a:bodyPr/>
          <a:lstStyle/>
          <a:p>
            <a:fld id="{6F023F61-454F-473A-AB1C-554260E56F23}" type="datetimeFigureOut">
              <a:rPr lang="en-IN" smtClean="0"/>
              <a:t>04-05-2026</a:t>
            </a:fld>
            <a:endParaRPr lang="en-IN"/>
          </a:p>
        </p:txBody>
      </p:sp>
      <p:sp>
        <p:nvSpPr>
          <p:cNvPr id="5" name="Footer Placeholder 4">
            <a:extLst>
              <a:ext uri="{FF2B5EF4-FFF2-40B4-BE49-F238E27FC236}">
                <a16:creationId xmlns:a16="http://schemas.microsoft.com/office/drawing/2014/main" id="{E1695FE4-C1CA-7B59-F46C-CA16810BB12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C85065A-5FE9-74F6-6DC0-394DDB28E47C}"/>
              </a:ext>
            </a:extLst>
          </p:cNvPr>
          <p:cNvSpPr>
            <a:spLocks noGrp="1"/>
          </p:cNvSpPr>
          <p:nvPr>
            <p:ph type="sldNum" sz="quarter" idx="12"/>
          </p:nvPr>
        </p:nvSpPr>
        <p:spPr/>
        <p:txBody>
          <a:bodyPr/>
          <a:lstStyle/>
          <a:p>
            <a:fld id="{9876FB01-7464-4AB3-93E0-727525F10AE8}" type="slidenum">
              <a:rPr lang="en-IN" smtClean="0"/>
              <a:t>‹#›</a:t>
            </a:fld>
            <a:endParaRPr lang="en-IN"/>
          </a:p>
        </p:txBody>
      </p:sp>
    </p:spTree>
    <p:extLst>
      <p:ext uri="{BB962C8B-B14F-4D97-AF65-F5344CB8AC3E}">
        <p14:creationId xmlns:p14="http://schemas.microsoft.com/office/powerpoint/2010/main" val="27640055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EF808-4F76-0C46-EA21-BA9BB8C68C1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0291DD3-AB15-3D0F-C013-78C8E211BB1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800518-6282-E8B7-38FB-C01C7B712782}"/>
              </a:ext>
            </a:extLst>
          </p:cNvPr>
          <p:cNvSpPr>
            <a:spLocks noGrp="1"/>
          </p:cNvSpPr>
          <p:nvPr>
            <p:ph type="dt" sz="half" idx="10"/>
          </p:nvPr>
        </p:nvSpPr>
        <p:spPr/>
        <p:txBody>
          <a:bodyPr/>
          <a:lstStyle/>
          <a:p>
            <a:fld id="{6F023F61-454F-473A-AB1C-554260E56F23}" type="datetimeFigureOut">
              <a:rPr lang="en-IN" smtClean="0"/>
              <a:t>04-05-2026</a:t>
            </a:fld>
            <a:endParaRPr lang="en-IN"/>
          </a:p>
        </p:txBody>
      </p:sp>
      <p:sp>
        <p:nvSpPr>
          <p:cNvPr id="5" name="Footer Placeholder 4">
            <a:extLst>
              <a:ext uri="{FF2B5EF4-FFF2-40B4-BE49-F238E27FC236}">
                <a16:creationId xmlns:a16="http://schemas.microsoft.com/office/drawing/2014/main" id="{BCC9083C-7536-68D8-DC3D-D9D79A3C71F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5851A79-B6AE-022A-5106-7C440A726348}"/>
              </a:ext>
            </a:extLst>
          </p:cNvPr>
          <p:cNvSpPr>
            <a:spLocks noGrp="1"/>
          </p:cNvSpPr>
          <p:nvPr>
            <p:ph type="sldNum" sz="quarter" idx="12"/>
          </p:nvPr>
        </p:nvSpPr>
        <p:spPr/>
        <p:txBody>
          <a:bodyPr/>
          <a:lstStyle/>
          <a:p>
            <a:fld id="{9876FB01-7464-4AB3-93E0-727525F10AE8}" type="slidenum">
              <a:rPr lang="en-IN" smtClean="0"/>
              <a:t>‹#›</a:t>
            </a:fld>
            <a:endParaRPr lang="en-IN"/>
          </a:p>
        </p:txBody>
      </p:sp>
    </p:spTree>
    <p:extLst>
      <p:ext uri="{BB962C8B-B14F-4D97-AF65-F5344CB8AC3E}">
        <p14:creationId xmlns:p14="http://schemas.microsoft.com/office/powerpoint/2010/main" val="19118325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0FDF64-09CA-C4FC-B75D-243DB608DC6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2B3CC07-64ED-B97E-80EF-796D298F7FF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9B70920-F3A2-D0B8-2AA8-637273B3771E}"/>
              </a:ext>
            </a:extLst>
          </p:cNvPr>
          <p:cNvSpPr>
            <a:spLocks noGrp="1"/>
          </p:cNvSpPr>
          <p:nvPr>
            <p:ph type="dt" sz="half" idx="10"/>
          </p:nvPr>
        </p:nvSpPr>
        <p:spPr/>
        <p:txBody>
          <a:bodyPr/>
          <a:lstStyle/>
          <a:p>
            <a:fld id="{6F023F61-454F-473A-AB1C-554260E56F23}" type="datetimeFigureOut">
              <a:rPr lang="en-IN" smtClean="0"/>
              <a:t>04-05-2026</a:t>
            </a:fld>
            <a:endParaRPr lang="en-IN"/>
          </a:p>
        </p:txBody>
      </p:sp>
      <p:sp>
        <p:nvSpPr>
          <p:cNvPr id="5" name="Footer Placeholder 4">
            <a:extLst>
              <a:ext uri="{FF2B5EF4-FFF2-40B4-BE49-F238E27FC236}">
                <a16:creationId xmlns:a16="http://schemas.microsoft.com/office/drawing/2014/main" id="{1F3831FB-196C-8FED-452C-737F295BD05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3A56F87-50F2-C77A-DB33-B215D2BCB642}"/>
              </a:ext>
            </a:extLst>
          </p:cNvPr>
          <p:cNvSpPr>
            <a:spLocks noGrp="1"/>
          </p:cNvSpPr>
          <p:nvPr>
            <p:ph type="sldNum" sz="quarter" idx="12"/>
          </p:nvPr>
        </p:nvSpPr>
        <p:spPr/>
        <p:txBody>
          <a:bodyPr/>
          <a:lstStyle/>
          <a:p>
            <a:fld id="{9876FB01-7464-4AB3-93E0-727525F10AE8}" type="slidenum">
              <a:rPr lang="en-IN" smtClean="0"/>
              <a:t>‹#›</a:t>
            </a:fld>
            <a:endParaRPr lang="en-IN"/>
          </a:p>
        </p:txBody>
      </p:sp>
    </p:spTree>
    <p:extLst>
      <p:ext uri="{BB962C8B-B14F-4D97-AF65-F5344CB8AC3E}">
        <p14:creationId xmlns:p14="http://schemas.microsoft.com/office/powerpoint/2010/main" val="13161409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881C5-4C8C-1E78-71E9-0881259FEC8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B0987EE-EDEB-0E3C-341F-5D9E294DBC7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5BA31FD-E842-0F7A-F5EE-39DA677FF4A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BC9C61E-C7EE-6F9D-F8A3-052D4B40C3C7}"/>
              </a:ext>
            </a:extLst>
          </p:cNvPr>
          <p:cNvSpPr>
            <a:spLocks noGrp="1"/>
          </p:cNvSpPr>
          <p:nvPr>
            <p:ph type="dt" sz="half" idx="10"/>
          </p:nvPr>
        </p:nvSpPr>
        <p:spPr/>
        <p:txBody>
          <a:bodyPr/>
          <a:lstStyle/>
          <a:p>
            <a:fld id="{6F023F61-454F-473A-AB1C-554260E56F23}" type="datetimeFigureOut">
              <a:rPr lang="en-IN" smtClean="0"/>
              <a:t>04-05-2026</a:t>
            </a:fld>
            <a:endParaRPr lang="en-IN"/>
          </a:p>
        </p:txBody>
      </p:sp>
      <p:sp>
        <p:nvSpPr>
          <p:cNvPr id="6" name="Footer Placeholder 5">
            <a:extLst>
              <a:ext uri="{FF2B5EF4-FFF2-40B4-BE49-F238E27FC236}">
                <a16:creationId xmlns:a16="http://schemas.microsoft.com/office/drawing/2014/main" id="{C8F86DCE-379C-72D3-D5C4-B6FC12A7629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3133EFC-05F9-32FB-1CAC-6670F8BE9275}"/>
              </a:ext>
            </a:extLst>
          </p:cNvPr>
          <p:cNvSpPr>
            <a:spLocks noGrp="1"/>
          </p:cNvSpPr>
          <p:nvPr>
            <p:ph type="sldNum" sz="quarter" idx="12"/>
          </p:nvPr>
        </p:nvSpPr>
        <p:spPr/>
        <p:txBody>
          <a:bodyPr/>
          <a:lstStyle/>
          <a:p>
            <a:fld id="{9876FB01-7464-4AB3-93E0-727525F10AE8}" type="slidenum">
              <a:rPr lang="en-IN" smtClean="0"/>
              <a:t>‹#›</a:t>
            </a:fld>
            <a:endParaRPr lang="en-IN"/>
          </a:p>
        </p:txBody>
      </p:sp>
    </p:spTree>
    <p:extLst>
      <p:ext uri="{BB962C8B-B14F-4D97-AF65-F5344CB8AC3E}">
        <p14:creationId xmlns:p14="http://schemas.microsoft.com/office/powerpoint/2010/main" val="165989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EB32C-49C3-0ED5-10E3-3A1672297D3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796C364-288A-5F35-C426-1CDF431BF4B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B63DE15-B09E-0E76-F5DC-794C09A1CB7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CFB2EA8-46C6-6848-D7A1-6DBDC63CA71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2B506E7-412D-DFF7-ADA1-334B7B63237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B1919E8-1DFE-4FAF-0529-6A11591C47FB}"/>
              </a:ext>
            </a:extLst>
          </p:cNvPr>
          <p:cNvSpPr>
            <a:spLocks noGrp="1"/>
          </p:cNvSpPr>
          <p:nvPr>
            <p:ph type="dt" sz="half" idx="10"/>
          </p:nvPr>
        </p:nvSpPr>
        <p:spPr/>
        <p:txBody>
          <a:bodyPr/>
          <a:lstStyle/>
          <a:p>
            <a:fld id="{6F023F61-454F-473A-AB1C-554260E56F23}" type="datetimeFigureOut">
              <a:rPr lang="en-IN" smtClean="0"/>
              <a:t>04-05-2026</a:t>
            </a:fld>
            <a:endParaRPr lang="en-IN"/>
          </a:p>
        </p:txBody>
      </p:sp>
      <p:sp>
        <p:nvSpPr>
          <p:cNvPr id="8" name="Footer Placeholder 7">
            <a:extLst>
              <a:ext uri="{FF2B5EF4-FFF2-40B4-BE49-F238E27FC236}">
                <a16:creationId xmlns:a16="http://schemas.microsoft.com/office/drawing/2014/main" id="{C862C65A-45F4-A31A-8690-D33E7D7CAD6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C060D6E-7B05-82B0-39EE-D66A266A12DE}"/>
              </a:ext>
            </a:extLst>
          </p:cNvPr>
          <p:cNvSpPr>
            <a:spLocks noGrp="1"/>
          </p:cNvSpPr>
          <p:nvPr>
            <p:ph type="sldNum" sz="quarter" idx="12"/>
          </p:nvPr>
        </p:nvSpPr>
        <p:spPr/>
        <p:txBody>
          <a:bodyPr/>
          <a:lstStyle/>
          <a:p>
            <a:fld id="{9876FB01-7464-4AB3-93E0-727525F10AE8}" type="slidenum">
              <a:rPr lang="en-IN" smtClean="0"/>
              <a:t>‹#›</a:t>
            </a:fld>
            <a:endParaRPr lang="en-IN"/>
          </a:p>
        </p:txBody>
      </p:sp>
    </p:spTree>
    <p:extLst>
      <p:ext uri="{BB962C8B-B14F-4D97-AF65-F5344CB8AC3E}">
        <p14:creationId xmlns:p14="http://schemas.microsoft.com/office/powerpoint/2010/main" val="16161585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A374B4-7DA5-3A95-FDE6-612246ACA0B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CA03D5E-5B37-1F92-F3F6-1CC2E4C77911}"/>
              </a:ext>
            </a:extLst>
          </p:cNvPr>
          <p:cNvSpPr>
            <a:spLocks noGrp="1"/>
          </p:cNvSpPr>
          <p:nvPr>
            <p:ph type="dt" sz="half" idx="10"/>
          </p:nvPr>
        </p:nvSpPr>
        <p:spPr/>
        <p:txBody>
          <a:bodyPr/>
          <a:lstStyle/>
          <a:p>
            <a:fld id="{6F023F61-454F-473A-AB1C-554260E56F23}" type="datetimeFigureOut">
              <a:rPr lang="en-IN" smtClean="0"/>
              <a:t>04-05-2026</a:t>
            </a:fld>
            <a:endParaRPr lang="en-IN"/>
          </a:p>
        </p:txBody>
      </p:sp>
      <p:sp>
        <p:nvSpPr>
          <p:cNvPr id="4" name="Footer Placeholder 3">
            <a:extLst>
              <a:ext uri="{FF2B5EF4-FFF2-40B4-BE49-F238E27FC236}">
                <a16:creationId xmlns:a16="http://schemas.microsoft.com/office/drawing/2014/main" id="{CDB80638-F8CD-51A2-5759-1E8185299F8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A442073-67C9-E984-133B-16F4B1E30CB9}"/>
              </a:ext>
            </a:extLst>
          </p:cNvPr>
          <p:cNvSpPr>
            <a:spLocks noGrp="1"/>
          </p:cNvSpPr>
          <p:nvPr>
            <p:ph type="sldNum" sz="quarter" idx="12"/>
          </p:nvPr>
        </p:nvSpPr>
        <p:spPr/>
        <p:txBody>
          <a:bodyPr/>
          <a:lstStyle/>
          <a:p>
            <a:fld id="{9876FB01-7464-4AB3-93E0-727525F10AE8}" type="slidenum">
              <a:rPr lang="en-IN" smtClean="0"/>
              <a:t>‹#›</a:t>
            </a:fld>
            <a:endParaRPr lang="en-IN"/>
          </a:p>
        </p:txBody>
      </p:sp>
    </p:spTree>
    <p:extLst>
      <p:ext uri="{BB962C8B-B14F-4D97-AF65-F5344CB8AC3E}">
        <p14:creationId xmlns:p14="http://schemas.microsoft.com/office/powerpoint/2010/main" val="18811600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3970B4C-0599-3664-1629-4E2D4B749BEB}"/>
              </a:ext>
            </a:extLst>
          </p:cNvPr>
          <p:cNvSpPr>
            <a:spLocks noGrp="1"/>
          </p:cNvSpPr>
          <p:nvPr>
            <p:ph type="dt" sz="half" idx="10"/>
          </p:nvPr>
        </p:nvSpPr>
        <p:spPr/>
        <p:txBody>
          <a:bodyPr/>
          <a:lstStyle/>
          <a:p>
            <a:fld id="{6F023F61-454F-473A-AB1C-554260E56F23}" type="datetimeFigureOut">
              <a:rPr lang="en-IN" smtClean="0"/>
              <a:t>04-05-2026</a:t>
            </a:fld>
            <a:endParaRPr lang="en-IN"/>
          </a:p>
        </p:txBody>
      </p:sp>
      <p:sp>
        <p:nvSpPr>
          <p:cNvPr id="3" name="Footer Placeholder 2">
            <a:extLst>
              <a:ext uri="{FF2B5EF4-FFF2-40B4-BE49-F238E27FC236}">
                <a16:creationId xmlns:a16="http://schemas.microsoft.com/office/drawing/2014/main" id="{D0CDF333-AF1F-D11F-C8A4-5F1E46A6068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ADD05D2-EB75-E452-D272-79FFE5442208}"/>
              </a:ext>
            </a:extLst>
          </p:cNvPr>
          <p:cNvSpPr>
            <a:spLocks noGrp="1"/>
          </p:cNvSpPr>
          <p:nvPr>
            <p:ph type="sldNum" sz="quarter" idx="12"/>
          </p:nvPr>
        </p:nvSpPr>
        <p:spPr/>
        <p:txBody>
          <a:bodyPr/>
          <a:lstStyle/>
          <a:p>
            <a:fld id="{9876FB01-7464-4AB3-93E0-727525F10AE8}" type="slidenum">
              <a:rPr lang="en-IN" smtClean="0"/>
              <a:t>‹#›</a:t>
            </a:fld>
            <a:endParaRPr lang="en-IN"/>
          </a:p>
        </p:txBody>
      </p:sp>
    </p:spTree>
    <p:extLst>
      <p:ext uri="{BB962C8B-B14F-4D97-AF65-F5344CB8AC3E}">
        <p14:creationId xmlns:p14="http://schemas.microsoft.com/office/powerpoint/2010/main" val="1766996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85A205-CDDA-D53E-6836-986078A901B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22B182D-885B-F61D-E590-6DFA17C0247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54FA119-5B7C-32F7-9F35-05C25ED984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5F08700-6958-62DD-1696-78C48CBF5AF7}"/>
              </a:ext>
            </a:extLst>
          </p:cNvPr>
          <p:cNvSpPr>
            <a:spLocks noGrp="1"/>
          </p:cNvSpPr>
          <p:nvPr>
            <p:ph type="dt" sz="half" idx="10"/>
          </p:nvPr>
        </p:nvSpPr>
        <p:spPr/>
        <p:txBody>
          <a:bodyPr/>
          <a:lstStyle/>
          <a:p>
            <a:fld id="{6F023F61-454F-473A-AB1C-554260E56F23}" type="datetimeFigureOut">
              <a:rPr lang="en-IN" smtClean="0"/>
              <a:t>04-05-2026</a:t>
            </a:fld>
            <a:endParaRPr lang="en-IN"/>
          </a:p>
        </p:txBody>
      </p:sp>
      <p:sp>
        <p:nvSpPr>
          <p:cNvPr id="6" name="Footer Placeholder 5">
            <a:extLst>
              <a:ext uri="{FF2B5EF4-FFF2-40B4-BE49-F238E27FC236}">
                <a16:creationId xmlns:a16="http://schemas.microsoft.com/office/drawing/2014/main" id="{3852AB3F-E671-23AE-4957-0545899882B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C3C8A50-9558-F35A-2590-4571935FAE7E}"/>
              </a:ext>
            </a:extLst>
          </p:cNvPr>
          <p:cNvSpPr>
            <a:spLocks noGrp="1"/>
          </p:cNvSpPr>
          <p:nvPr>
            <p:ph type="sldNum" sz="quarter" idx="12"/>
          </p:nvPr>
        </p:nvSpPr>
        <p:spPr/>
        <p:txBody>
          <a:bodyPr/>
          <a:lstStyle/>
          <a:p>
            <a:fld id="{9876FB01-7464-4AB3-93E0-727525F10AE8}" type="slidenum">
              <a:rPr lang="en-IN" smtClean="0"/>
              <a:t>‹#›</a:t>
            </a:fld>
            <a:endParaRPr lang="en-IN"/>
          </a:p>
        </p:txBody>
      </p:sp>
    </p:spTree>
    <p:extLst>
      <p:ext uri="{BB962C8B-B14F-4D97-AF65-F5344CB8AC3E}">
        <p14:creationId xmlns:p14="http://schemas.microsoft.com/office/powerpoint/2010/main" val="39621902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BF2EE-BABD-DF00-ECE7-7F56DB43E4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F4CA7AD-BEF6-9B4E-A78E-25220609B97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D225BF6-D2C7-25A9-5375-2A66E6C947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A72728-D4EB-8E64-DAFE-6F9CFB992C9C}"/>
              </a:ext>
            </a:extLst>
          </p:cNvPr>
          <p:cNvSpPr>
            <a:spLocks noGrp="1"/>
          </p:cNvSpPr>
          <p:nvPr>
            <p:ph type="dt" sz="half" idx="10"/>
          </p:nvPr>
        </p:nvSpPr>
        <p:spPr/>
        <p:txBody>
          <a:bodyPr/>
          <a:lstStyle/>
          <a:p>
            <a:fld id="{6F023F61-454F-473A-AB1C-554260E56F23}" type="datetimeFigureOut">
              <a:rPr lang="en-IN" smtClean="0"/>
              <a:t>04-05-2026</a:t>
            </a:fld>
            <a:endParaRPr lang="en-IN"/>
          </a:p>
        </p:txBody>
      </p:sp>
      <p:sp>
        <p:nvSpPr>
          <p:cNvPr id="6" name="Footer Placeholder 5">
            <a:extLst>
              <a:ext uri="{FF2B5EF4-FFF2-40B4-BE49-F238E27FC236}">
                <a16:creationId xmlns:a16="http://schemas.microsoft.com/office/drawing/2014/main" id="{190CC5E4-ADA0-845C-B4AC-CD51FD10AF5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FC2D7C0-7B75-C452-6568-E985B1F8D238}"/>
              </a:ext>
            </a:extLst>
          </p:cNvPr>
          <p:cNvSpPr>
            <a:spLocks noGrp="1"/>
          </p:cNvSpPr>
          <p:nvPr>
            <p:ph type="sldNum" sz="quarter" idx="12"/>
          </p:nvPr>
        </p:nvSpPr>
        <p:spPr/>
        <p:txBody>
          <a:bodyPr/>
          <a:lstStyle/>
          <a:p>
            <a:fld id="{9876FB01-7464-4AB3-93E0-727525F10AE8}" type="slidenum">
              <a:rPr lang="en-IN" smtClean="0"/>
              <a:t>‹#›</a:t>
            </a:fld>
            <a:endParaRPr lang="en-IN"/>
          </a:p>
        </p:txBody>
      </p:sp>
    </p:spTree>
    <p:extLst>
      <p:ext uri="{BB962C8B-B14F-4D97-AF65-F5344CB8AC3E}">
        <p14:creationId xmlns:p14="http://schemas.microsoft.com/office/powerpoint/2010/main" val="16879335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A1EBE-A990-9794-5DD4-8491767185C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A9E08FE-2D39-23A5-1FC9-E73BBCBA4DA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4E8F3C3-7ED5-2789-5857-50FB4D1708B8}"/>
              </a:ext>
            </a:extLst>
          </p:cNvPr>
          <p:cNvSpPr>
            <a:spLocks noGrp="1"/>
          </p:cNvSpPr>
          <p:nvPr>
            <p:ph type="dt" sz="half" idx="10"/>
          </p:nvPr>
        </p:nvSpPr>
        <p:spPr/>
        <p:txBody>
          <a:bodyPr/>
          <a:lstStyle/>
          <a:p>
            <a:fld id="{6F023F61-454F-473A-AB1C-554260E56F23}" type="datetimeFigureOut">
              <a:rPr lang="en-IN" smtClean="0"/>
              <a:t>04-05-2026</a:t>
            </a:fld>
            <a:endParaRPr lang="en-IN"/>
          </a:p>
        </p:txBody>
      </p:sp>
      <p:sp>
        <p:nvSpPr>
          <p:cNvPr id="5" name="Footer Placeholder 4">
            <a:extLst>
              <a:ext uri="{FF2B5EF4-FFF2-40B4-BE49-F238E27FC236}">
                <a16:creationId xmlns:a16="http://schemas.microsoft.com/office/drawing/2014/main" id="{68002E17-8BEA-7E80-CB12-806178E35B5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A5E336-4651-42D0-CFA0-9E318B307E8D}"/>
              </a:ext>
            </a:extLst>
          </p:cNvPr>
          <p:cNvSpPr>
            <a:spLocks noGrp="1"/>
          </p:cNvSpPr>
          <p:nvPr>
            <p:ph type="sldNum" sz="quarter" idx="12"/>
          </p:nvPr>
        </p:nvSpPr>
        <p:spPr/>
        <p:txBody>
          <a:bodyPr/>
          <a:lstStyle/>
          <a:p>
            <a:fld id="{9876FB01-7464-4AB3-93E0-727525F10AE8}" type="slidenum">
              <a:rPr lang="en-IN" smtClean="0"/>
              <a:t>‹#›</a:t>
            </a:fld>
            <a:endParaRPr lang="en-IN"/>
          </a:p>
        </p:txBody>
      </p:sp>
    </p:spTree>
    <p:extLst>
      <p:ext uri="{BB962C8B-B14F-4D97-AF65-F5344CB8AC3E}">
        <p14:creationId xmlns:p14="http://schemas.microsoft.com/office/powerpoint/2010/main" val="29796417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155327B-C14E-DAC4-0D81-0BDE6FEF66D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15A9323-9A5A-14B5-6610-CCCF6EF9B8D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0E4983B-63B8-22F5-ED32-B0B9CA773810}"/>
              </a:ext>
            </a:extLst>
          </p:cNvPr>
          <p:cNvSpPr>
            <a:spLocks noGrp="1"/>
          </p:cNvSpPr>
          <p:nvPr>
            <p:ph type="dt" sz="half" idx="10"/>
          </p:nvPr>
        </p:nvSpPr>
        <p:spPr/>
        <p:txBody>
          <a:bodyPr/>
          <a:lstStyle/>
          <a:p>
            <a:fld id="{6F023F61-454F-473A-AB1C-554260E56F23}" type="datetimeFigureOut">
              <a:rPr lang="en-IN" smtClean="0"/>
              <a:t>04-05-2026</a:t>
            </a:fld>
            <a:endParaRPr lang="en-IN"/>
          </a:p>
        </p:txBody>
      </p:sp>
      <p:sp>
        <p:nvSpPr>
          <p:cNvPr id="5" name="Footer Placeholder 4">
            <a:extLst>
              <a:ext uri="{FF2B5EF4-FFF2-40B4-BE49-F238E27FC236}">
                <a16:creationId xmlns:a16="http://schemas.microsoft.com/office/drawing/2014/main" id="{18FC549A-962F-88A8-6696-8E021171066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93DAE91-952A-FC91-B7D6-4FA95CA6A273}"/>
              </a:ext>
            </a:extLst>
          </p:cNvPr>
          <p:cNvSpPr>
            <a:spLocks noGrp="1"/>
          </p:cNvSpPr>
          <p:nvPr>
            <p:ph type="sldNum" sz="quarter" idx="12"/>
          </p:nvPr>
        </p:nvSpPr>
        <p:spPr/>
        <p:txBody>
          <a:bodyPr/>
          <a:lstStyle/>
          <a:p>
            <a:fld id="{9876FB01-7464-4AB3-93E0-727525F10AE8}" type="slidenum">
              <a:rPr lang="en-IN" smtClean="0"/>
              <a:t>‹#›</a:t>
            </a:fld>
            <a:endParaRPr lang="en-IN"/>
          </a:p>
        </p:txBody>
      </p:sp>
    </p:spTree>
    <p:extLst>
      <p:ext uri="{BB962C8B-B14F-4D97-AF65-F5344CB8AC3E}">
        <p14:creationId xmlns:p14="http://schemas.microsoft.com/office/powerpoint/2010/main" val="28874694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16E1AF9-D80E-D2DC-DE50-EAE0BFC89D3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E872141-433D-50A4-8C97-35D95E3516D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5D57776-84F2-4173-4A05-FD069D3DA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F023F61-454F-473A-AB1C-554260E56F23}" type="datetimeFigureOut">
              <a:rPr lang="en-IN" smtClean="0"/>
              <a:t>04-05-2026</a:t>
            </a:fld>
            <a:endParaRPr lang="en-IN"/>
          </a:p>
        </p:txBody>
      </p:sp>
      <p:sp>
        <p:nvSpPr>
          <p:cNvPr id="5" name="Footer Placeholder 4">
            <a:extLst>
              <a:ext uri="{FF2B5EF4-FFF2-40B4-BE49-F238E27FC236}">
                <a16:creationId xmlns:a16="http://schemas.microsoft.com/office/drawing/2014/main" id="{C77C5002-545F-7296-995D-717D0226636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CB652FEA-6DA3-0181-7F12-8CD5F6AE91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876FB01-7464-4AB3-93E0-727525F10AE8}" type="slidenum">
              <a:rPr lang="en-IN" smtClean="0"/>
              <a:t>‹#›</a:t>
            </a:fld>
            <a:endParaRPr lang="en-IN"/>
          </a:p>
        </p:txBody>
      </p:sp>
    </p:spTree>
    <p:extLst>
      <p:ext uri="{BB962C8B-B14F-4D97-AF65-F5344CB8AC3E}">
        <p14:creationId xmlns:p14="http://schemas.microsoft.com/office/powerpoint/2010/main" val="15787569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p:cNvSpPr txBox="1">
            <a:spLocks/>
          </p:cNvSpPr>
          <p:nvPr/>
        </p:nvSpPr>
        <p:spPr>
          <a:xfrm>
            <a:off x="1005840" y="2530213"/>
            <a:ext cx="9738358" cy="609709"/>
          </a:xfrm>
          <a:prstGeom prst="rect">
            <a:avLst/>
          </a:prstGeom>
        </p:spPr>
        <p:txBody>
          <a:bodyPr vert="horz" lIns="91440" tIns="45720" rIns="91440" bIns="45720" rtlCol="0" anchor="b">
            <a:normAutofit lnSpcReduction="10000"/>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r>
              <a:rPr lang="en-US" altLang="en-GB" sz="2000" b="1" dirty="0">
                <a:solidFill>
                  <a:srgbClr val="7030A0"/>
                </a:solidFill>
                <a:latin typeface="Times New Roman" panose="02020603050405020304" charset="0"/>
                <a:cs typeface="Times New Roman" panose="02020603050405020304" charset="0"/>
              </a:rPr>
              <a:t>DEPARTMENT OF ARTIFICIAL INTELLIGENCE AND DATA SCIENCE </a:t>
            </a:r>
            <a:br>
              <a:rPr lang="en-US" altLang="en-GB" sz="2000" b="1" dirty="0">
                <a:solidFill>
                  <a:srgbClr val="7030A0"/>
                </a:solidFill>
                <a:latin typeface="Times New Roman" panose="02020603050405020304" charset="0"/>
                <a:cs typeface="Times New Roman" panose="02020603050405020304" charset="0"/>
              </a:rPr>
            </a:br>
            <a:endParaRPr lang="en-US" sz="2000" dirty="0">
              <a:solidFill>
                <a:srgbClr val="7030A0"/>
              </a:solidFill>
              <a:latin typeface="Times New Roman" pitchFamily="18" charset="0"/>
              <a:cs typeface="Times New Roman" pitchFamily="18" charset="0"/>
            </a:endParaRPr>
          </a:p>
        </p:txBody>
      </p:sp>
      <p:sp>
        <p:nvSpPr>
          <p:cNvPr id="12" name="Subtitle 2"/>
          <p:cNvSpPr txBox="1">
            <a:spLocks/>
          </p:cNvSpPr>
          <p:nvPr/>
        </p:nvSpPr>
        <p:spPr>
          <a:xfrm>
            <a:off x="1258529" y="3139922"/>
            <a:ext cx="9144000" cy="1127278"/>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r>
              <a:rPr lang="en-US" altLang="en-GB" sz="2800" dirty="0">
                <a:latin typeface="Times New Roman" panose="02020603050405020304" charset="0"/>
                <a:cs typeface="Times New Roman" panose="02020603050405020304" charset="0"/>
              </a:rPr>
              <a:t>    </a:t>
            </a:r>
            <a:endParaRPr lang="en-US" sz="2600" dirty="0">
              <a:latin typeface="Times New Roman" pitchFamily="18" charset="0"/>
              <a:cs typeface="Times New Roman" pitchFamily="18" charset="0"/>
            </a:endParaRPr>
          </a:p>
        </p:txBody>
      </p:sp>
      <p:pic>
        <p:nvPicPr>
          <p:cNvPr id="13" name="image1.png"/>
          <p:cNvPicPr preferRelativeResize="0"/>
          <p:nvPr/>
        </p:nvPicPr>
        <p:blipFill>
          <a:blip r:embed="rId2"/>
          <a:srcRect/>
          <a:stretch>
            <a:fillRect/>
          </a:stretch>
        </p:blipFill>
        <p:spPr>
          <a:xfrm>
            <a:off x="0" y="0"/>
            <a:ext cx="12126005" cy="2435934"/>
          </a:xfrm>
          <a:prstGeom prst="rect">
            <a:avLst/>
          </a:prstGeom>
        </p:spPr>
      </p:pic>
      <p:sp>
        <p:nvSpPr>
          <p:cNvPr id="14" name="TextBox 13"/>
          <p:cNvSpPr txBox="1"/>
          <p:nvPr/>
        </p:nvSpPr>
        <p:spPr>
          <a:xfrm>
            <a:off x="8275598" y="4937587"/>
            <a:ext cx="3539613" cy="1631216"/>
          </a:xfrm>
          <a:prstGeom prst="rect">
            <a:avLst/>
          </a:prstGeom>
          <a:noFill/>
        </p:spPr>
        <p:txBody>
          <a:bodyPr wrap="square" rtlCol="0">
            <a:spAutoFit/>
          </a:bodyPr>
          <a:lstStyle/>
          <a:p>
            <a:r>
              <a:rPr lang="en-US" sz="2000" dirty="0">
                <a:latin typeface="Times New Roman" pitchFamily="18" charset="0"/>
                <a:cs typeface="Times New Roman" pitchFamily="18" charset="0"/>
              </a:rPr>
              <a:t>Under the guidance of:</a:t>
            </a:r>
          </a:p>
          <a:p>
            <a:r>
              <a:rPr lang="en-US" sz="2000" dirty="0">
                <a:latin typeface="Times New Roman" pitchFamily="18" charset="0"/>
                <a:cs typeface="Times New Roman" pitchFamily="18" charset="0"/>
              </a:rPr>
              <a:t>Mr. Sreenivas G S</a:t>
            </a:r>
          </a:p>
          <a:p>
            <a:r>
              <a:rPr lang="en-US" sz="2000" dirty="0">
                <a:latin typeface="Times New Roman" pitchFamily="18" charset="0"/>
                <a:cs typeface="Times New Roman" pitchFamily="18" charset="0"/>
              </a:rPr>
              <a:t>Asst Professor</a:t>
            </a:r>
          </a:p>
          <a:p>
            <a:r>
              <a:rPr lang="en-US" sz="2000" dirty="0">
                <a:latin typeface="Times New Roman" pitchFamily="18" charset="0"/>
                <a:cs typeface="Times New Roman" pitchFamily="18" charset="0"/>
              </a:rPr>
              <a:t>Dept of AI &amp;DS,SJCIT</a:t>
            </a:r>
          </a:p>
          <a:p>
            <a:r>
              <a:rPr lang="en-US" sz="2000" dirty="0">
                <a:latin typeface="Times New Roman" pitchFamily="18" charset="0"/>
                <a:cs typeface="Times New Roman" pitchFamily="18" charset="0"/>
              </a:rPr>
              <a:t> </a:t>
            </a:r>
          </a:p>
        </p:txBody>
      </p:sp>
      <p:sp>
        <p:nvSpPr>
          <p:cNvPr id="15" name="TextBox 14"/>
          <p:cNvSpPr txBox="1"/>
          <p:nvPr/>
        </p:nvSpPr>
        <p:spPr>
          <a:xfrm>
            <a:off x="159026" y="4537477"/>
            <a:ext cx="2507226" cy="400110"/>
          </a:xfrm>
          <a:prstGeom prst="rect">
            <a:avLst/>
          </a:prstGeom>
          <a:noFill/>
        </p:spPr>
        <p:txBody>
          <a:bodyPr wrap="square" rtlCol="0">
            <a:spAutoFit/>
          </a:bodyPr>
          <a:lstStyle/>
          <a:p>
            <a:r>
              <a:rPr lang="en-US" sz="2000" dirty="0">
                <a:latin typeface="Times New Roman" pitchFamily="18" charset="0"/>
                <a:cs typeface="Times New Roman" pitchFamily="18" charset="0"/>
              </a:rPr>
              <a:t>Presented By:</a:t>
            </a:r>
          </a:p>
        </p:txBody>
      </p:sp>
      <p:sp>
        <p:nvSpPr>
          <p:cNvPr id="2" name="Rectangle 1"/>
          <p:cNvSpPr/>
          <p:nvPr/>
        </p:nvSpPr>
        <p:spPr>
          <a:xfrm>
            <a:off x="603445" y="3207757"/>
            <a:ext cx="10552235" cy="1754326"/>
          </a:xfrm>
          <a:prstGeom prst="rect">
            <a:avLst/>
          </a:prstGeom>
        </p:spPr>
        <p:txBody>
          <a:bodyPr wrap="square">
            <a:spAutoFit/>
          </a:bodyPr>
          <a:lstStyle/>
          <a:p>
            <a:pPr algn="ctr"/>
            <a:r>
              <a:rPr lang="en-US" altLang="en-GB" sz="2400" dirty="0">
                <a:latin typeface="Times New Roman" panose="02020603050405020304" charset="0"/>
                <a:cs typeface="Times New Roman" panose="02020603050405020304" charset="0"/>
              </a:rPr>
              <a:t>Major project  Review On</a:t>
            </a:r>
          </a:p>
          <a:p>
            <a:pPr algn="ctr"/>
            <a:r>
              <a:rPr lang="en-US" altLang="en-GB" sz="2400" b="1" dirty="0">
                <a:latin typeface="Times New Roman" panose="02020603050405020304" charset="0"/>
                <a:cs typeface="Times New Roman" panose="02020603050405020304" charset="0"/>
              </a:rPr>
              <a:t>“</a:t>
            </a:r>
            <a:r>
              <a:rPr lang="en-US" altLang="en-GB" sz="3200" b="1" dirty="0">
                <a:latin typeface="Times New Roman" panose="02020603050405020304" charset="0"/>
                <a:cs typeface="Times New Roman" panose="02020603050405020304" charset="0"/>
              </a:rPr>
              <a:t>Real-Time Hand Gesture Interface for UAV</a:t>
            </a:r>
          </a:p>
          <a:p>
            <a:pPr algn="ctr"/>
            <a:r>
              <a:rPr lang="en-US" altLang="en-GB" sz="3200" b="1" dirty="0">
                <a:latin typeface="Times New Roman" panose="02020603050405020304" charset="0"/>
                <a:cs typeface="Times New Roman" panose="02020603050405020304" charset="0"/>
              </a:rPr>
              <a:t>Control Using PX4 Autopilot</a:t>
            </a:r>
            <a:r>
              <a:rPr lang="en-US" altLang="en-GB" sz="2400" b="1" dirty="0">
                <a:latin typeface="Times New Roman" panose="02020603050405020304" charset="0"/>
                <a:cs typeface="Times New Roman" panose="02020603050405020304" charset="0"/>
              </a:rPr>
              <a:t>” </a:t>
            </a:r>
          </a:p>
          <a:p>
            <a:pPr algn="ctr"/>
            <a:endParaRPr lang="en-US" sz="2000" dirty="0">
              <a:latin typeface="Times New Roman" pitchFamily="18" charset="0"/>
              <a:cs typeface="Times New Roman" pitchFamily="18" charset="0"/>
            </a:endParaRPr>
          </a:p>
        </p:txBody>
      </p:sp>
      <p:sp>
        <p:nvSpPr>
          <p:cNvPr id="7" name="TextBox 6">
            <a:extLst>
              <a:ext uri="{FF2B5EF4-FFF2-40B4-BE49-F238E27FC236}">
                <a16:creationId xmlns:a16="http://schemas.microsoft.com/office/drawing/2014/main" id="{BADA36D5-AD7B-FE0E-D7CC-B5A2B4EEB295}"/>
              </a:ext>
            </a:extLst>
          </p:cNvPr>
          <p:cNvSpPr txBox="1"/>
          <p:nvPr/>
        </p:nvSpPr>
        <p:spPr>
          <a:xfrm>
            <a:off x="303091" y="4945625"/>
            <a:ext cx="2305877" cy="1323439"/>
          </a:xfrm>
          <a:prstGeom prst="rect">
            <a:avLst/>
          </a:prstGeom>
          <a:noFill/>
        </p:spPr>
        <p:txBody>
          <a:bodyPr wrap="square" rtlCol="0">
            <a:spAutoFit/>
          </a:bodyPr>
          <a:lstStyle/>
          <a:p>
            <a:r>
              <a:rPr lang="en-US" sz="2000" dirty="0">
                <a:latin typeface="Times New Roman" pitchFamily="18" charset="0"/>
                <a:cs typeface="Times New Roman" pitchFamily="18" charset="0"/>
              </a:rPr>
              <a:t>Preetham Gowda S</a:t>
            </a:r>
          </a:p>
          <a:p>
            <a:r>
              <a:rPr lang="en-US" sz="2000" dirty="0">
                <a:latin typeface="Times New Roman" pitchFamily="18" charset="0"/>
                <a:cs typeface="Times New Roman" pitchFamily="18" charset="0"/>
              </a:rPr>
              <a:t>S </a:t>
            </a:r>
            <a:r>
              <a:rPr lang="en-US" sz="2000" dirty="0" err="1">
                <a:latin typeface="Times New Roman" pitchFamily="18" charset="0"/>
                <a:cs typeface="Times New Roman" pitchFamily="18" charset="0"/>
              </a:rPr>
              <a:t>Yashas</a:t>
            </a:r>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T Kiran</a:t>
            </a:r>
          </a:p>
          <a:p>
            <a:r>
              <a:rPr lang="en-US" sz="2000" dirty="0">
                <a:latin typeface="Times New Roman" pitchFamily="18" charset="0"/>
                <a:cs typeface="Times New Roman" pitchFamily="18" charset="0"/>
              </a:rPr>
              <a:t>Yuvaraj B </a:t>
            </a:r>
          </a:p>
        </p:txBody>
      </p:sp>
      <p:sp>
        <p:nvSpPr>
          <p:cNvPr id="3" name="TextBox 2">
            <a:extLst>
              <a:ext uri="{FF2B5EF4-FFF2-40B4-BE49-F238E27FC236}">
                <a16:creationId xmlns:a16="http://schemas.microsoft.com/office/drawing/2014/main" id="{3672C54B-698D-410B-7C49-C2981609BEBC}"/>
              </a:ext>
            </a:extLst>
          </p:cNvPr>
          <p:cNvSpPr txBox="1"/>
          <p:nvPr/>
        </p:nvSpPr>
        <p:spPr>
          <a:xfrm>
            <a:off x="2608968" y="4945625"/>
            <a:ext cx="1877961" cy="1323439"/>
          </a:xfrm>
          <a:prstGeom prst="rect">
            <a:avLst/>
          </a:prstGeom>
          <a:noFill/>
        </p:spPr>
        <p:txBody>
          <a:bodyPr wrap="square" rtlCol="0">
            <a:spAutoFit/>
          </a:bodyPr>
          <a:lstStyle/>
          <a:p>
            <a:r>
              <a:rPr lang="en-US" sz="2000" dirty="0">
                <a:latin typeface="Times New Roman" pitchFamily="18" charset="0"/>
                <a:cs typeface="Times New Roman" pitchFamily="18" charset="0"/>
              </a:rPr>
              <a:t>1SJ23AD041</a:t>
            </a:r>
          </a:p>
          <a:p>
            <a:r>
              <a:rPr lang="en-US" sz="2000" dirty="0">
                <a:latin typeface="Times New Roman" pitchFamily="18" charset="0"/>
                <a:cs typeface="Times New Roman" pitchFamily="18" charset="0"/>
              </a:rPr>
              <a:t>1SJ23AD048</a:t>
            </a:r>
          </a:p>
          <a:p>
            <a:r>
              <a:rPr lang="en-US" sz="2000" dirty="0">
                <a:latin typeface="Times New Roman" pitchFamily="18" charset="0"/>
                <a:cs typeface="Times New Roman" pitchFamily="18" charset="0"/>
              </a:rPr>
              <a:t>1SJ23AD055</a:t>
            </a:r>
          </a:p>
          <a:p>
            <a:r>
              <a:rPr lang="en-US" sz="2000" dirty="0">
                <a:latin typeface="Times New Roman" pitchFamily="18" charset="0"/>
                <a:cs typeface="Times New Roman" pitchFamily="18" charset="0"/>
              </a:rPr>
              <a:t>1SJ23AD063</a:t>
            </a:r>
          </a:p>
        </p:txBody>
      </p:sp>
    </p:spTree>
    <p:extLst>
      <p:ext uri="{BB962C8B-B14F-4D97-AF65-F5344CB8AC3E}">
        <p14:creationId xmlns:p14="http://schemas.microsoft.com/office/powerpoint/2010/main" val="3843809933"/>
      </p:ext>
    </p:extLst>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3271" y="680834"/>
            <a:ext cx="9803860" cy="629777"/>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ABSTRACT</a:t>
            </a:r>
            <a:r>
              <a:rPr lang="en-US" sz="3200" b="1" dirty="0">
                <a:solidFill>
                  <a:srgbClr val="C00000"/>
                </a:solidFill>
                <a:latin typeface="Times New Roman" panose="02020603050405020304" pitchFamily="18" charset="0"/>
                <a:cs typeface="Times New Roman" panose="02020603050405020304" pitchFamily="18" charset="0"/>
              </a:rPr>
              <a:t> </a:t>
            </a:r>
            <a:endParaRPr lang="en-IN" sz="3200" b="1"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85030" y="1447136"/>
            <a:ext cx="10964848" cy="5410863"/>
          </a:xfrm>
        </p:spPr>
        <p:txBody>
          <a:bodyPr>
            <a:noAutofit/>
          </a:bodyPr>
          <a:lstStyle/>
          <a:p>
            <a:pPr marL="0" indent="0" algn="just">
              <a:lnSpc>
                <a:spcPct val="150000"/>
              </a:lnSpc>
              <a:buNone/>
            </a:pPr>
            <a:r>
              <a:rPr lang="en-US" sz="2400" dirty="0">
                <a:latin typeface="Times New Roman" panose="02020603050405020304" pitchFamily="18" charset="0"/>
                <a:cs typeface="Times New Roman" panose="02020603050405020304" pitchFamily="18" charset="0"/>
              </a:rPr>
              <a:t>Intelligent drone control system that combines gesture recognition, face detection, and autonomous flight using artificial intelligence. The system allows users to control a drone without any physical controller by using simple hand gestures captured through a camera. It also incorporates face detection and tracking, enabling the drone to follow a user automatically. The system is integrated with a PX4 autopilot simulator and communicates using MAVSDK for real-time control.  It includes features such as auto takeoff, landing, hover stabilization, and gesture-based directional movement.</a:t>
            </a:r>
          </a:p>
          <a:p>
            <a:pPr marL="0" indent="0" algn="just">
              <a:lnSpc>
                <a:spcPct val="150000"/>
              </a:lnSpc>
              <a:buNone/>
            </a:pPr>
            <a:endParaRPr lang="en-IN" sz="24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1489F817-384C-62D6-3DD2-8D068F90674A}"/>
              </a:ext>
            </a:extLst>
          </p:cNvPr>
          <p:cNvPicPr>
            <a:picLocks noChangeAspect="1"/>
          </p:cNvPicPr>
          <p:nvPr/>
        </p:nvPicPr>
        <p:blipFill>
          <a:blip r:embed="rId2"/>
          <a:stretch>
            <a:fillRect/>
          </a:stretch>
        </p:blipFill>
        <p:spPr>
          <a:xfrm>
            <a:off x="11191875" y="0"/>
            <a:ext cx="1000125" cy="1076325"/>
          </a:xfrm>
          <a:prstGeom prst="rect">
            <a:avLst/>
          </a:prstGeom>
        </p:spPr>
      </p:pic>
      <p:sp>
        <p:nvSpPr>
          <p:cNvPr id="4" name="Date Placeholder 3">
            <a:extLst>
              <a:ext uri="{FF2B5EF4-FFF2-40B4-BE49-F238E27FC236}">
                <a16:creationId xmlns:a16="http://schemas.microsoft.com/office/drawing/2014/main" id="{C5BA413E-FAFD-2129-329E-F29D50916A03}"/>
              </a:ext>
            </a:extLst>
          </p:cNvPr>
          <p:cNvSpPr>
            <a:spLocks noGrp="1"/>
          </p:cNvSpPr>
          <p:nvPr>
            <p:ph type="dt" sz="half" idx="10"/>
          </p:nvPr>
        </p:nvSpPr>
        <p:spPr/>
        <p:txBody>
          <a:bodyPr/>
          <a:lstStyle/>
          <a:p>
            <a:r>
              <a:rPr lang="en-US" dirty="0"/>
              <a:t>AI &amp; DS</a:t>
            </a:r>
            <a:endParaRPr lang="en-IN" dirty="0"/>
          </a:p>
        </p:txBody>
      </p:sp>
      <p:sp>
        <p:nvSpPr>
          <p:cNvPr id="6" name="Slide Number Placeholder 5">
            <a:extLst>
              <a:ext uri="{FF2B5EF4-FFF2-40B4-BE49-F238E27FC236}">
                <a16:creationId xmlns:a16="http://schemas.microsoft.com/office/drawing/2014/main" id="{EF36692F-BDE3-CA8F-3E88-92F179117A3A}"/>
              </a:ext>
            </a:extLst>
          </p:cNvPr>
          <p:cNvSpPr>
            <a:spLocks noGrp="1"/>
          </p:cNvSpPr>
          <p:nvPr>
            <p:ph type="sldNum" sz="quarter" idx="12"/>
          </p:nvPr>
        </p:nvSpPr>
        <p:spPr/>
        <p:txBody>
          <a:bodyPr/>
          <a:lstStyle/>
          <a:p>
            <a:r>
              <a:rPr lang="en-IN" dirty="0"/>
              <a:t>2026-27</a:t>
            </a:r>
          </a:p>
        </p:txBody>
      </p:sp>
      <p:sp>
        <p:nvSpPr>
          <p:cNvPr id="5" name="Footer Placeholder 4"/>
          <p:cNvSpPr>
            <a:spLocks noGrp="1"/>
          </p:cNvSpPr>
          <p:nvPr>
            <p:ph type="ftr" sz="quarter" idx="11"/>
          </p:nvPr>
        </p:nvSpPr>
        <p:spPr/>
        <p:txBody>
          <a:bodyPr/>
          <a:lstStyle/>
          <a:p>
            <a:r>
              <a:rPr lang="en-US" dirty="0"/>
              <a:t>2</a:t>
            </a:r>
            <a:endParaRPr lang="en-IN" dirty="0"/>
          </a:p>
        </p:txBody>
      </p:sp>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49275"/>
          </a:xfrm>
        </p:spPr>
        <p:txBody>
          <a:bodyPr>
            <a:noAutofit/>
          </a:bodyPr>
          <a:lstStyle/>
          <a:p>
            <a:pPr algn="ctr"/>
            <a:r>
              <a:rPr lang="en-US" sz="4000" b="1" dirty="0">
                <a:latin typeface="Times New Roman" pitchFamily="18" charset="0"/>
                <a:cs typeface="Times New Roman" pitchFamily="18" charset="0"/>
              </a:rPr>
              <a:t>PROBLEM</a:t>
            </a:r>
            <a:r>
              <a:rPr lang="en-US" sz="3200" b="1" dirty="0">
                <a:latin typeface="Times New Roman" pitchFamily="18" charset="0"/>
                <a:cs typeface="Times New Roman" pitchFamily="18" charset="0"/>
              </a:rPr>
              <a:t> </a:t>
            </a:r>
            <a:r>
              <a:rPr lang="en-US" sz="4000" b="1" dirty="0">
                <a:latin typeface="Times New Roman" pitchFamily="18" charset="0"/>
                <a:cs typeface="Times New Roman" pitchFamily="18" charset="0"/>
              </a:rPr>
              <a:t>STATEMENT</a:t>
            </a:r>
            <a:endParaRPr lang="en-US" sz="3200" b="1" dirty="0">
              <a:latin typeface="Times New Roman" pitchFamily="18" charset="0"/>
              <a:cs typeface="Times New Roman" pitchFamily="18" charset="0"/>
            </a:endParaRPr>
          </a:p>
        </p:txBody>
      </p:sp>
      <p:sp>
        <p:nvSpPr>
          <p:cNvPr id="3" name="Content Placeholder 2"/>
          <p:cNvSpPr>
            <a:spLocks noGrp="1"/>
          </p:cNvSpPr>
          <p:nvPr>
            <p:ph idx="1"/>
          </p:nvPr>
        </p:nvSpPr>
        <p:spPr>
          <a:xfrm>
            <a:off x="838200" y="1076325"/>
            <a:ext cx="10515600" cy="5100638"/>
          </a:xfrm>
        </p:spPr>
        <p:txBody>
          <a:bodyPr>
            <a:normAutofit fontScale="92500"/>
          </a:bodyPr>
          <a:lstStyle/>
          <a:p>
            <a:pPr marL="0" indent="0" algn="just">
              <a:lnSpc>
                <a:spcPct val="150000"/>
              </a:lnSpc>
              <a:buNone/>
            </a:pPr>
            <a:r>
              <a:rPr lang="en-US" sz="2400" dirty="0">
                <a:latin typeface="Times New Roman" panose="02020603050405020304" pitchFamily="18" charset="0"/>
                <a:cs typeface="Times New Roman" panose="02020603050405020304" pitchFamily="18" charset="0"/>
              </a:rPr>
              <a:t>Traditional drone systems rely heavily on remote controllers, which require user training and are not very intuitive for beginners. Although some existing systems provide gesture control or face detection, these features are usually implemented separately and are not integrated with autonomous flight capabilities. This project addresses these limitations by combining gesture-based control for movement, face detection and tracking for intelligent interaction, and autonomous drone functions such as takeoff, landing, and hover. Additionally, real-time communication is established using MAVSDK to ensure smooth and responsive control. By integrating all these features into a single system, the proposed solution enhances usability, reduces manual effort, and provides a more natural and efficient human-drone interaction.</a:t>
            </a:r>
          </a:p>
        </p:txBody>
      </p:sp>
      <p:sp>
        <p:nvSpPr>
          <p:cNvPr id="4" name="Date Placeholder 3"/>
          <p:cNvSpPr>
            <a:spLocks noGrp="1"/>
          </p:cNvSpPr>
          <p:nvPr>
            <p:ph type="dt" sz="half" idx="10"/>
          </p:nvPr>
        </p:nvSpPr>
        <p:spPr/>
        <p:txBody>
          <a:bodyPr/>
          <a:lstStyle/>
          <a:p>
            <a:r>
              <a:rPr lang="en-US"/>
              <a:t>AI &amp; DS</a:t>
            </a:r>
            <a:endParaRPr lang="en-IN"/>
          </a:p>
        </p:txBody>
      </p:sp>
      <p:sp>
        <p:nvSpPr>
          <p:cNvPr id="5" name="Footer Placeholder 4"/>
          <p:cNvSpPr>
            <a:spLocks noGrp="1"/>
          </p:cNvSpPr>
          <p:nvPr>
            <p:ph type="ftr" sz="quarter" idx="11"/>
          </p:nvPr>
        </p:nvSpPr>
        <p:spPr/>
        <p:txBody>
          <a:bodyPr/>
          <a:lstStyle/>
          <a:p>
            <a:r>
              <a:rPr lang="en-US" dirty="0"/>
              <a:t>1</a:t>
            </a:r>
            <a:endParaRPr lang="en-IN" dirty="0"/>
          </a:p>
        </p:txBody>
      </p:sp>
      <p:sp>
        <p:nvSpPr>
          <p:cNvPr id="6" name="Slide Number Placeholder 5"/>
          <p:cNvSpPr>
            <a:spLocks noGrp="1"/>
          </p:cNvSpPr>
          <p:nvPr>
            <p:ph type="sldNum" sz="quarter" idx="12"/>
          </p:nvPr>
        </p:nvSpPr>
        <p:spPr>
          <a:xfrm>
            <a:off x="8624248" y="6356350"/>
            <a:ext cx="2743200" cy="365125"/>
          </a:xfrm>
        </p:spPr>
        <p:txBody>
          <a:bodyPr/>
          <a:lstStyle/>
          <a:p>
            <a:r>
              <a:rPr lang="en-IN" dirty="0"/>
              <a:t>2026-2027</a:t>
            </a:r>
          </a:p>
        </p:txBody>
      </p:sp>
      <p:pic>
        <p:nvPicPr>
          <p:cNvPr id="7" name="Picture 6">
            <a:extLst>
              <a:ext uri="{FF2B5EF4-FFF2-40B4-BE49-F238E27FC236}">
                <a16:creationId xmlns:a16="http://schemas.microsoft.com/office/drawing/2014/main" id="{1489F817-384C-62D6-3DD2-8D068F90674A}"/>
              </a:ext>
            </a:extLst>
          </p:cNvPr>
          <p:cNvPicPr>
            <a:picLocks noChangeAspect="1"/>
          </p:cNvPicPr>
          <p:nvPr/>
        </p:nvPicPr>
        <p:blipFill>
          <a:blip r:embed="rId2"/>
          <a:stretch>
            <a:fillRect/>
          </a:stretch>
        </p:blipFill>
        <p:spPr>
          <a:xfrm>
            <a:off x="11191875" y="0"/>
            <a:ext cx="1000125" cy="1076325"/>
          </a:xfrm>
          <a:prstGeom prst="rect">
            <a:avLst/>
          </a:prstGeom>
        </p:spPr>
      </p:pic>
    </p:spTree>
    <p:extLst>
      <p:ext uri="{BB962C8B-B14F-4D97-AF65-F5344CB8AC3E}">
        <p14:creationId xmlns:p14="http://schemas.microsoft.com/office/powerpoint/2010/main" val="3183694439"/>
      </p:ext>
    </p:extLst>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438356-9D6D-DB69-D526-DA64F2AD6DA3}"/>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B74C4B5A-2954-4B5D-7ABE-F4EE2997532D}"/>
              </a:ext>
            </a:extLst>
          </p:cNvPr>
          <p:cNvPicPr>
            <a:picLocks noChangeAspect="1"/>
          </p:cNvPicPr>
          <p:nvPr/>
        </p:nvPicPr>
        <p:blipFill>
          <a:blip r:embed="rId2"/>
          <a:stretch>
            <a:fillRect/>
          </a:stretch>
        </p:blipFill>
        <p:spPr>
          <a:xfrm>
            <a:off x="11191875" y="0"/>
            <a:ext cx="1000125" cy="1076325"/>
          </a:xfrm>
          <a:prstGeom prst="rect">
            <a:avLst/>
          </a:prstGeom>
        </p:spPr>
      </p:pic>
      <p:sp>
        <p:nvSpPr>
          <p:cNvPr id="4" name="Date Placeholder 3">
            <a:extLst>
              <a:ext uri="{FF2B5EF4-FFF2-40B4-BE49-F238E27FC236}">
                <a16:creationId xmlns:a16="http://schemas.microsoft.com/office/drawing/2014/main" id="{0766BF13-834B-D0B1-A372-56960D9B6CE8}"/>
              </a:ext>
            </a:extLst>
          </p:cNvPr>
          <p:cNvSpPr>
            <a:spLocks noGrp="1"/>
          </p:cNvSpPr>
          <p:nvPr>
            <p:ph type="dt" sz="half" idx="10"/>
          </p:nvPr>
        </p:nvSpPr>
        <p:spPr/>
        <p:txBody>
          <a:bodyPr/>
          <a:lstStyle/>
          <a:p>
            <a:r>
              <a:rPr lang="en-US" dirty="0"/>
              <a:t>AI &amp; DS</a:t>
            </a:r>
            <a:endParaRPr lang="en-IN" dirty="0"/>
          </a:p>
        </p:txBody>
      </p:sp>
      <p:sp>
        <p:nvSpPr>
          <p:cNvPr id="6" name="Slide Number Placeholder 5">
            <a:extLst>
              <a:ext uri="{FF2B5EF4-FFF2-40B4-BE49-F238E27FC236}">
                <a16:creationId xmlns:a16="http://schemas.microsoft.com/office/drawing/2014/main" id="{771230DD-FD22-B732-0AC3-DFC3185C016B}"/>
              </a:ext>
            </a:extLst>
          </p:cNvPr>
          <p:cNvSpPr>
            <a:spLocks noGrp="1"/>
          </p:cNvSpPr>
          <p:nvPr>
            <p:ph type="sldNum" sz="quarter" idx="12"/>
          </p:nvPr>
        </p:nvSpPr>
        <p:spPr/>
        <p:txBody>
          <a:bodyPr/>
          <a:lstStyle/>
          <a:p>
            <a:r>
              <a:rPr lang="en-IN" dirty="0"/>
              <a:t>2026-27</a:t>
            </a:r>
          </a:p>
        </p:txBody>
      </p:sp>
      <p:sp>
        <p:nvSpPr>
          <p:cNvPr id="5" name="Footer Placeholder 4">
            <a:extLst>
              <a:ext uri="{FF2B5EF4-FFF2-40B4-BE49-F238E27FC236}">
                <a16:creationId xmlns:a16="http://schemas.microsoft.com/office/drawing/2014/main" id="{617088BB-636B-BF3B-A0F5-788D7D396026}"/>
              </a:ext>
            </a:extLst>
          </p:cNvPr>
          <p:cNvSpPr>
            <a:spLocks noGrp="1"/>
          </p:cNvSpPr>
          <p:nvPr>
            <p:ph type="ftr" sz="quarter" idx="11"/>
          </p:nvPr>
        </p:nvSpPr>
        <p:spPr/>
        <p:txBody>
          <a:bodyPr/>
          <a:lstStyle/>
          <a:p>
            <a:r>
              <a:rPr lang="en-US" dirty="0"/>
              <a:t>4</a:t>
            </a:r>
            <a:endParaRPr lang="en-IN" dirty="0"/>
          </a:p>
        </p:txBody>
      </p:sp>
      <p:sp>
        <p:nvSpPr>
          <p:cNvPr id="2" name="TextBox 1">
            <a:extLst>
              <a:ext uri="{FF2B5EF4-FFF2-40B4-BE49-F238E27FC236}">
                <a16:creationId xmlns:a16="http://schemas.microsoft.com/office/drawing/2014/main" id="{D96BDE2A-A0B7-4941-5A79-B6D789617222}"/>
              </a:ext>
            </a:extLst>
          </p:cNvPr>
          <p:cNvSpPr txBox="1"/>
          <p:nvPr/>
        </p:nvSpPr>
        <p:spPr>
          <a:xfrm>
            <a:off x="2072080" y="427838"/>
            <a:ext cx="6769916" cy="1446550"/>
          </a:xfrm>
          <a:prstGeom prst="rect">
            <a:avLst/>
          </a:prstGeom>
          <a:noFill/>
        </p:spPr>
        <p:txBody>
          <a:bodyPr wrap="square" rtlCol="0">
            <a:spAutoFit/>
          </a:bodyPr>
          <a:lstStyle/>
          <a:p>
            <a:pPr algn="ctr"/>
            <a:r>
              <a:rPr lang="en-US" sz="4000" b="1" dirty="0">
                <a:latin typeface="Times New Roman" panose="02020603050405020304" pitchFamily="18" charset="0"/>
                <a:cs typeface="Times New Roman" panose="02020603050405020304" pitchFamily="18" charset="0"/>
              </a:rPr>
              <a:t>INTRODUCTION</a:t>
            </a:r>
            <a:r>
              <a:rPr lang="en-US" sz="4800" b="1" dirty="0">
                <a:latin typeface="Times New Roman" panose="02020603050405020304" pitchFamily="18" charset="0"/>
                <a:cs typeface="Times New Roman" panose="02020603050405020304" pitchFamily="18" charset="0"/>
              </a:rPr>
              <a:t> </a:t>
            </a:r>
            <a:endParaRPr lang="en-IN" sz="4800" b="1" dirty="0">
              <a:latin typeface="Times New Roman" panose="02020603050405020304" pitchFamily="18" charset="0"/>
              <a:cs typeface="Times New Roman" panose="02020603050405020304" pitchFamily="18" charset="0"/>
            </a:endParaRPr>
          </a:p>
          <a:p>
            <a:pPr algn="ctr"/>
            <a:endParaRPr lang="en-IN" sz="4000" b="1"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BDA8689B-C044-9813-14E8-A8B443340A75}"/>
              </a:ext>
            </a:extLst>
          </p:cNvPr>
          <p:cNvSpPr txBox="1"/>
          <p:nvPr/>
        </p:nvSpPr>
        <p:spPr>
          <a:xfrm>
            <a:off x="981512" y="1292053"/>
            <a:ext cx="10372288" cy="5565947"/>
          </a:xfrm>
          <a:prstGeom prst="rect">
            <a:avLst/>
          </a:prstGeom>
          <a:noFill/>
        </p:spPr>
        <p:txBody>
          <a:bodyPr wrap="square" rtlCol="0">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In recent years, drones have become widely used in various fields such as surveillance, delivery, agriculture, and rescue operations. However, most drones still rely on manual controllers, which can be complex and require training. To overcome this limitation, this project introduces an AI-based gesture and face-controlled drone system. The system uses computer vision techniques to detect hand gestures and facial features through a webcam. Based on these inputs, the drone performs actions such as takeoff, landing, and movement. The integration of gesture control with autonomous flight and face tracking makes the system more interactive and intelligent.</a:t>
            </a:r>
          </a:p>
          <a:p>
            <a:pPr algn="just">
              <a:lnSpc>
                <a:spcPct val="150000"/>
              </a:lnSpc>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68340289"/>
      </p:ext>
    </p:extLst>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B6808-9593-104A-25FA-0D36A0CC0F7A}"/>
              </a:ext>
            </a:extLst>
          </p:cNvPr>
          <p:cNvSpPr>
            <a:spLocks noGrp="1"/>
          </p:cNvSpPr>
          <p:nvPr>
            <p:ph type="title"/>
          </p:nvPr>
        </p:nvSpPr>
        <p:spPr>
          <a:xfrm>
            <a:off x="838200" y="136525"/>
            <a:ext cx="10515600" cy="471216"/>
          </a:xfrm>
        </p:spPr>
        <p:txBody>
          <a:bodyPr>
            <a:noAutofit/>
          </a:bodyPr>
          <a:lstStyle/>
          <a:p>
            <a:pPr algn="ctr"/>
            <a:r>
              <a:rPr lang="en-US" sz="4000" b="1" dirty="0">
                <a:latin typeface="Times New Roman" panose="02020603050405020304" pitchFamily="18" charset="0"/>
                <a:cs typeface="Times New Roman" panose="02020603050405020304" pitchFamily="18" charset="0"/>
              </a:rPr>
              <a:t>LITERATURE</a:t>
            </a:r>
            <a:r>
              <a:rPr lang="en-US" sz="3200" b="1" dirty="0">
                <a:latin typeface="Times New Roman" panose="02020603050405020304" pitchFamily="18" charset="0"/>
                <a:cs typeface="Times New Roman" panose="02020603050405020304" pitchFamily="18" charset="0"/>
              </a:rPr>
              <a:t> </a:t>
            </a:r>
            <a:r>
              <a:rPr lang="en-US" sz="4000" b="1" dirty="0">
                <a:latin typeface="Times New Roman" panose="02020603050405020304" pitchFamily="18" charset="0"/>
                <a:cs typeface="Times New Roman" panose="02020603050405020304" pitchFamily="18" charset="0"/>
              </a:rPr>
              <a:t>SURVEY</a:t>
            </a:r>
            <a:endParaRPr lang="en-IN" sz="3200" b="1"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DE7A292B-F0A0-0429-51F8-756F34458D63}"/>
              </a:ext>
            </a:extLst>
          </p:cNvPr>
          <p:cNvSpPr>
            <a:spLocks noGrp="1"/>
          </p:cNvSpPr>
          <p:nvPr>
            <p:ph type="dt" sz="half" idx="10"/>
          </p:nvPr>
        </p:nvSpPr>
        <p:spPr/>
        <p:txBody>
          <a:bodyPr/>
          <a:lstStyle/>
          <a:p>
            <a:r>
              <a:rPr lang="en-US"/>
              <a:t>AI &amp; DS</a:t>
            </a:r>
            <a:endParaRPr lang="en-IN"/>
          </a:p>
        </p:txBody>
      </p:sp>
      <p:sp>
        <p:nvSpPr>
          <p:cNvPr id="5" name="Footer Placeholder 4">
            <a:extLst>
              <a:ext uri="{FF2B5EF4-FFF2-40B4-BE49-F238E27FC236}">
                <a16:creationId xmlns:a16="http://schemas.microsoft.com/office/drawing/2014/main" id="{B35DAD9D-E496-9682-A82B-F0E20F8406BD}"/>
              </a:ext>
            </a:extLst>
          </p:cNvPr>
          <p:cNvSpPr>
            <a:spLocks noGrp="1"/>
          </p:cNvSpPr>
          <p:nvPr>
            <p:ph type="ftr" sz="quarter" idx="11"/>
          </p:nvPr>
        </p:nvSpPr>
        <p:spPr/>
        <p:txBody>
          <a:bodyPr/>
          <a:lstStyle/>
          <a:p>
            <a:r>
              <a:rPr lang="en-IN"/>
              <a:t>1</a:t>
            </a:r>
          </a:p>
        </p:txBody>
      </p:sp>
      <p:sp>
        <p:nvSpPr>
          <p:cNvPr id="6" name="Slide Number Placeholder 5">
            <a:extLst>
              <a:ext uri="{FF2B5EF4-FFF2-40B4-BE49-F238E27FC236}">
                <a16:creationId xmlns:a16="http://schemas.microsoft.com/office/drawing/2014/main" id="{5CEE5C2C-3975-7358-4E5B-84642C547163}"/>
              </a:ext>
            </a:extLst>
          </p:cNvPr>
          <p:cNvSpPr>
            <a:spLocks noGrp="1"/>
          </p:cNvSpPr>
          <p:nvPr>
            <p:ph type="sldNum" sz="quarter" idx="12"/>
          </p:nvPr>
        </p:nvSpPr>
        <p:spPr/>
        <p:txBody>
          <a:bodyPr/>
          <a:lstStyle/>
          <a:p>
            <a:fld id="{2FF0BB7A-0AA1-4D74-AF2D-96F8BBE02D13}" type="slidenum">
              <a:rPr lang="en-IN" smtClean="0"/>
              <a:t>5</a:t>
            </a:fld>
            <a:endParaRPr lang="en-IN"/>
          </a:p>
        </p:txBody>
      </p:sp>
      <p:graphicFrame>
        <p:nvGraphicFramePr>
          <p:cNvPr id="11" name="Content Placeholder 10">
            <a:extLst>
              <a:ext uri="{FF2B5EF4-FFF2-40B4-BE49-F238E27FC236}">
                <a16:creationId xmlns:a16="http://schemas.microsoft.com/office/drawing/2014/main" id="{85BF1465-4950-C3CB-9019-2EA3CC3BE2F9}"/>
              </a:ext>
            </a:extLst>
          </p:cNvPr>
          <p:cNvGraphicFramePr>
            <a:graphicFrameLocks noGrp="1"/>
          </p:cNvGraphicFramePr>
          <p:nvPr>
            <p:ph idx="1"/>
            <p:extLst>
              <p:ext uri="{D42A27DB-BD31-4B8C-83A1-F6EECF244321}">
                <p14:modId xmlns:p14="http://schemas.microsoft.com/office/powerpoint/2010/main" val="3609242237"/>
              </p:ext>
            </p:extLst>
          </p:nvPr>
        </p:nvGraphicFramePr>
        <p:xfrm>
          <a:off x="164327" y="680083"/>
          <a:ext cx="11863346" cy="6280119"/>
        </p:xfrm>
        <a:graphic>
          <a:graphicData uri="http://schemas.openxmlformats.org/drawingml/2006/table">
            <a:tbl>
              <a:tblPr firstRow="1" bandRow="1">
                <a:tableStyleId>{5C22544A-7EE6-4342-B048-85BDC9FD1C3A}</a:tableStyleId>
              </a:tblPr>
              <a:tblGrid>
                <a:gridCol w="942578">
                  <a:extLst>
                    <a:ext uri="{9D8B030D-6E8A-4147-A177-3AD203B41FA5}">
                      <a16:colId xmlns:a16="http://schemas.microsoft.com/office/drawing/2014/main" val="826739601"/>
                    </a:ext>
                  </a:extLst>
                </a:gridCol>
                <a:gridCol w="1823122">
                  <a:extLst>
                    <a:ext uri="{9D8B030D-6E8A-4147-A177-3AD203B41FA5}">
                      <a16:colId xmlns:a16="http://schemas.microsoft.com/office/drawing/2014/main" val="1288480973"/>
                    </a:ext>
                  </a:extLst>
                </a:gridCol>
                <a:gridCol w="3080506">
                  <a:extLst>
                    <a:ext uri="{9D8B030D-6E8A-4147-A177-3AD203B41FA5}">
                      <a16:colId xmlns:a16="http://schemas.microsoft.com/office/drawing/2014/main" val="3673661891"/>
                    </a:ext>
                  </a:extLst>
                </a:gridCol>
                <a:gridCol w="3419023">
                  <a:extLst>
                    <a:ext uri="{9D8B030D-6E8A-4147-A177-3AD203B41FA5}">
                      <a16:colId xmlns:a16="http://schemas.microsoft.com/office/drawing/2014/main" val="3383538581"/>
                    </a:ext>
                  </a:extLst>
                </a:gridCol>
                <a:gridCol w="2598117">
                  <a:extLst>
                    <a:ext uri="{9D8B030D-6E8A-4147-A177-3AD203B41FA5}">
                      <a16:colId xmlns:a16="http://schemas.microsoft.com/office/drawing/2014/main" val="644026018"/>
                    </a:ext>
                  </a:extLst>
                </a:gridCol>
              </a:tblGrid>
              <a:tr h="294560">
                <a:tc>
                  <a:txBody>
                    <a:bodyPr/>
                    <a:lstStyle/>
                    <a:p>
                      <a:r>
                        <a:rPr lang="en-US" sz="2000">
                          <a:latin typeface="Times New Roman" panose="02020603050405020304" pitchFamily="18" charset="0"/>
                          <a:cs typeface="Times New Roman" panose="02020603050405020304" pitchFamily="18" charset="0"/>
                        </a:rPr>
                        <a:t>SL NO</a:t>
                      </a:r>
                      <a:endParaRPr lang="en-IN" sz="2000" dirty="0">
                        <a:latin typeface="Times New Roman" panose="02020603050405020304" pitchFamily="18" charset="0"/>
                        <a:cs typeface="Times New Roman" panose="02020603050405020304" pitchFamily="18" charset="0"/>
                      </a:endParaRPr>
                    </a:p>
                  </a:txBody>
                  <a:tcPr/>
                </a:tc>
                <a:tc>
                  <a:txBody>
                    <a:bodyPr/>
                    <a:lstStyle/>
                    <a:p>
                      <a:pPr algn="l" fontAlgn="b">
                        <a:lnSpc>
                          <a:spcPts val="1200"/>
                        </a:lnSpc>
                        <a:buNone/>
                      </a:pPr>
                      <a:r>
                        <a:rPr lang="en-IN" b="1" dirty="0">
                          <a:solidFill>
                            <a:srgbClr val="FFFFFF"/>
                          </a:solidFill>
                          <a:effectLst/>
                          <a:latin typeface="Times New Roman" panose="02020603050405020304" pitchFamily="18" charset="0"/>
                          <a:cs typeface="Times New Roman" panose="02020603050405020304" pitchFamily="18" charset="0"/>
                        </a:rPr>
                        <a:t>Feature</a:t>
                      </a:r>
                    </a:p>
                  </a:txBody>
                  <a:tcPr anchor="b"/>
                </a:tc>
                <a:tc>
                  <a:txBody>
                    <a:bodyPr/>
                    <a:lstStyle/>
                    <a:p>
                      <a:pPr algn="l" fontAlgn="b">
                        <a:lnSpc>
                          <a:spcPts val="1200"/>
                        </a:lnSpc>
                        <a:buNone/>
                      </a:pPr>
                      <a:r>
                        <a:rPr lang="en-IN" b="1" dirty="0">
                          <a:solidFill>
                            <a:srgbClr val="FFFFFF"/>
                          </a:solidFill>
                          <a:effectLst/>
                          <a:latin typeface="Times New Roman" panose="02020603050405020304" pitchFamily="18" charset="0"/>
                          <a:cs typeface="Times New Roman" panose="02020603050405020304" pitchFamily="18" charset="0"/>
                        </a:rPr>
                        <a:t>Paper Title</a:t>
                      </a:r>
                    </a:p>
                  </a:txBody>
                  <a:tcPr anchor="b"/>
                </a:tc>
                <a:tc>
                  <a:txBody>
                    <a:bodyPr/>
                    <a:lstStyle/>
                    <a:p>
                      <a:pPr algn="l" fontAlgn="b">
                        <a:lnSpc>
                          <a:spcPts val="1200"/>
                        </a:lnSpc>
                        <a:buNone/>
                      </a:pPr>
                      <a:r>
                        <a:rPr lang="en-IN" b="1" dirty="0">
                          <a:solidFill>
                            <a:srgbClr val="FFFFFF"/>
                          </a:solidFill>
                          <a:effectLst/>
                          <a:latin typeface="Times New Roman" panose="02020603050405020304" pitchFamily="18" charset="0"/>
                          <a:cs typeface="Times New Roman" panose="02020603050405020304" pitchFamily="18" charset="0"/>
                        </a:rPr>
                        <a:t>Approach Used in Paper</a:t>
                      </a:r>
                    </a:p>
                  </a:txBody>
                  <a:tcPr anchor="b"/>
                </a:tc>
                <a:tc>
                  <a:txBody>
                    <a:bodyPr/>
                    <a:lstStyle/>
                    <a:p>
                      <a:pPr algn="l" fontAlgn="b">
                        <a:lnSpc>
                          <a:spcPts val="1200"/>
                        </a:lnSpc>
                        <a:buNone/>
                      </a:pPr>
                      <a:r>
                        <a:rPr lang="en-IN" b="1">
                          <a:solidFill>
                            <a:srgbClr val="FFFFFF"/>
                          </a:solidFill>
                          <a:effectLst/>
                          <a:latin typeface="Times New Roman" panose="02020603050405020304" pitchFamily="18" charset="0"/>
                          <a:cs typeface="Times New Roman" panose="02020603050405020304" pitchFamily="18" charset="0"/>
                        </a:rPr>
                        <a:t>Gap Identified</a:t>
                      </a:r>
                    </a:p>
                  </a:txBody>
                  <a:tcPr anchor="b"/>
                </a:tc>
                <a:extLst>
                  <a:ext uri="{0D108BD9-81ED-4DB2-BD59-A6C34878D82A}">
                    <a16:rowId xmlns:a16="http://schemas.microsoft.com/office/drawing/2014/main" val="891496988"/>
                  </a:ext>
                </a:extLst>
              </a:tr>
              <a:tr h="1200850">
                <a:tc>
                  <a:txBody>
                    <a:bodyPr/>
                    <a:lstStyle/>
                    <a:p>
                      <a:r>
                        <a:rPr lang="en-US" sz="2000" dirty="0">
                          <a:latin typeface="Times New Roman" panose="02020603050405020304" pitchFamily="18" charset="0"/>
                          <a:cs typeface="Times New Roman" panose="02020603050405020304" pitchFamily="18" charset="0"/>
                        </a:rPr>
                        <a:t>01</a:t>
                      </a:r>
                      <a:endParaRPr lang="en-IN" sz="2000" dirty="0">
                        <a:latin typeface="Times New Roman" panose="02020603050405020304" pitchFamily="18" charset="0"/>
                        <a:cs typeface="Times New Roman" panose="02020603050405020304" pitchFamily="18" charset="0"/>
                      </a:endParaRPr>
                    </a:p>
                  </a:txBody>
                  <a:tcPr/>
                </a:tc>
                <a:tc>
                  <a:txBody>
                    <a:bodyPr/>
                    <a:lstStyle/>
                    <a:p>
                      <a:pPr algn="l" fontAlgn="base">
                        <a:buNone/>
                      </a:pPr>
                      <a:r>
                        <a:rPr lang="en-IN" b="1" dirty="0">
                          <a:latin typeface="Times New Roman" panose="02020603050405020304" pitchFamily="18" charset="0"/>
                          <a:cs typeface="Times New Roman" panose="02020603050405020304" pitchFamily="18" charset="0"/>
                        </a:rPr>
                        <a:t>Obstacle Avoidance</a:t>
                      </a:r>
                      <a:endParaRPr lang="en-IN" b="1" dirty="0">
                        <a:solidFill>
                          <a:schemeClr val="tx1"/>
                        </a:solidFill>
                        <a:effectLst/>
                        <a:latin typeface="Times New Roman" panose="02020603050405020304" pitchFamily="18" charset="0"/>
                        <a:cs typeface="Times New Roman" panose="02020603050405020304" pitchFamily="18" charset="0"/>
                      </a:endParaRPr>
                    </a:p>
                  </a:txBody>
                  <a:tcPr anchor="ctr"/>
                </a:tc>
                <a:tc>
                  <a:txBody>
                    <a:bodyPr/>
                    <a:lstStyle/>
                    <a:p>
                      <a:pPr algn="l" fontAlgn="base">
                        <a:buNone/>
                      </a:pPr>
                      <a:r>
                        <a:rPr lang="en-IN" i="1" dirty="0">
                          <a:latin typeface="Times New Roman" panose="02020603050405020304" pitchFamily="18" charset="0"/>
                          <a:cs typeface="Times New Roman" panose="02020603050405020304" pitchFamily="18" charset="0"/>
                        </a:rPr>
                        <a:t>Fast Obstacle Avoidance Motion in Small Quadcopter</a:t>
                      </a:r>
                      <a:endParaRPr lang="en-IN" i="1" dirty="0">
                        <a:effectLst/>
                        <a:latin typeface="Times New Roman" panose="02020603050405020304" pitchFamily="18" charset="0"/>
                        <a:cs typeface="Times New Roman" panose="02020603050405020304" pitchFamily="18" charset="0"/>
                      </a:endParaRPr>
                    </a:p>
                  </a:txBody>
                  <a:tcPr anchor="ctr"/>
                </a:tc>
                <a:tc>
                  <a:txBody>
                    <a:bodyPr/>
                    <a:lstStyle/>
                    <a:p>
                      <a:pPr algn="l" fontAlgn="base">
                        <a:buNone/>
                      </a:pPr>
                      <a:r>
                        <a:rPr lang="en-US" dirty="0">
                          <a:latin typeface="Times New Roman" panose="02020603050405020304" pitchFamily="18" charset="0"/>
                          <a:cs typeface="Times New Roman" panose="02020603050405020304" pitchFamily="18" charset="0"/>
                        </a:rPr>
                        <a:t>Uses FOAM algorithm with camera + LiDAR sensor fusion and probabilistic occupancy mapping for real-time navigation</a:t>
                      </a:r>
                      <a:endParaRPr lang="en-US" dirty="0">
                        <a:effectLst/>
                        <a:latin typeface="Times New Roman" panose="02020603050405020304" pitchFamily="18" charset="0"/>
                        <a:cs typeface="Times New Roman" panose="02020603050405020304" pitchFamily="18" charset="0"/>
                      </a:endParaRPr>
                    </a:p>
                  </a:txBody>
                  <a:tcPr anchor="ctr"/>
                </a:tc>
                <a:tc>
                  <a:txBody>
                    <a:bodyPr/>
                    <a:lstStyle/>
                    <a:p>
                      <a:pPr algn="l" fontAlgn="base">
                        <a:buNone/>
                      </a:pPr>
                      <a:r>
                        <a:rPr lang="en-US" dirty="0">
                          <a:latin typeface="Times New Roman" panose="02020603050405020304" pitchFamily="18" charset="0"/>
                          <a:cs typeface="Times New Roman" panose="02020603050405020304" pitchFamily="18" charset="0"/>
                        </a:rPr>
                        <a:t>High computation and focuses only on navigation, no gesture or human interaction</a:t>
                      </a:r>
                      <a:endParaRPr lang="en-US" dirty="0">
                        <a:effectLst/>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119923817"/>
                  </a:ext>
                </a:extLst>
              </a:tr>
              <a:tr h="1103288">
                <a:tc>
                  <a:txBody>
                    <a:bodyPr/>
                    <a:lstStyle/>
                    <a:p>
                      <a:r>
                        <a:rPr lang="en-US" sz="2000">
                          <a:latin typeface="Times New Roman" panose="02020603050405020304" pitchFamily="18" charset="0"/>
                          <a:cs typeface="Times New Roman" panose="02020603050405020304" pitchFamily="18" charset="0"/>
                        </a:rPr>
                        <a:t>02</a:t>
                      </a:r>
                      <a:endParaRPr lang="en-IN" sz="2000" dirty="0">
                        <a:latin typeface="Times New Roman" panose="02020603050405020304" pitchFamily="18" charset="0"/>
                        <a:cs typeface="Times New Roman" panose="02020603050405020304" pitchFamily="18" charset="0"/>
                      </a:endParaRPr>
                    </a:p>
                  </a:txBody>
                  <a:tcPr/>
                </a:tc>
                <a:tc>
                  <a:txBody>
                    <a:bodyPr/>
                    <a:lstStyle/>
                    <a:p>
                      <a:pPr algn="l" fontAlgn="base">
                        <a:buNone/>
                      </a:pPr>
                      <a:r>
                        <a:rPr lang="en-IN" b="1" dirty="0">
                          <a:latin typeface="Times New Roman" panose="02020603050405020304" pitchFamily="18" charset="0"/>
                          <a:cs typeface="Times New Roman" panose="02020603050405020304" pitchFamily="18" charset="0"/>
                        </a:rPr>
                        <a:t>Autonomous UAV</a:t>
                      </a:r>
                      <a:endParaRPr lang="en-IN" b="1" dirty="0">
                        <a:solidFill>
                          <a:schemeClr val="tx1"/>
                        </a:solidFill>
                        <a:effectLst/>
                        <a:latin typeface="Times New Roman" panose="02020603050405020304" pitchFamily="18" charset="0"/>
                        <a:cs typeface="Times New Roman" panose="02020603050405020304" pitchFamily="18" charset="0"/>
                      </a:endParaRPr>
                    </a:p>
                  </a:txBody>
                  <a:tcPr anchor="ctr"/>
                </a:tc>
                <a:tc>
                  <a:txBody>
                    <a:bodyPr/>
                    <a:lstStyle/>
                    <a:p>
                      <a:pPr algn="l" fontAlgn="base">
                        <a:buNone/>
                      </a:pPr>
                      <a:r>
                        <a:rPr lang="en-US" i="1" dirty="0">
                          <a:latin typeface="Times New Roman" panose="02020603050405020304" pitchFamily="18" charset="0"/>
                          <a:cs typeface="Times New Roman" panose="02020603050405020304" pitchFamily="18" charset="0"/>
                        </a:rPr>
                        <a:t>AI-Powered Autonomous UAV for Power Line Inspection</a:t>
                      </a:r>
                      <a:endParaRPr lang="en-US" i="1" dirty="0">
                        <a:effectLst/>
                        <a:latin typeface="Times New Roman" panose="02020603050405020304" pitchFamily="18" charset="0"/>
                        <a:cs typeface="Times New Roman" panose="02020603050405020304" pitchFamily="18" charset="0"/>
                      </a:endParaRPr>
                    </a:p>
                  </a:txBody>
                  <a:tcPr anchor="ctr"/>
                </a:tc>
                <a:tc>
                  <a:txBody>
                    <a:bodyPr/>
                    <a:lstStyle/>
                    <a:p>
                      <a:pPr algn="l" fontAlgn="base">
                        <a:buNone/>
                      </a:pPr>
                      <a:r>
                        <a:rPr lang="en-IN" dirty="0">
                          <a:latin typeface="Times New Roman" panose="02020603050405020304" pitchFamily="18" charset="0"/>
                          <a:cs typeface="Times New Roman" panose="02020603050405020304" pitchFamily="18" charset="0"/>
                        </a:rPr>
                        <a:t>Uses computer vision + GPS waypoint navigation + YOLO-based fault detection for autonomous inspection</a:t>
                      </a:r>
                      <a:endParaRPr lang="en-US" dirty="0">
                        <a:effectLst/>
                        <a:latin typeface="Times New Roman" panose="02020603050405020304" pitchFamily="18" charset="0"/>
                        <a:cs typeface="Times New Roman" panose="02020603050405020304" pitchFamily="18" charset="0"/>
                      </a:endParaRPr>
                    </a:p>
                  </a:txBody>
                  <a:tcPr anchor="ctr"/>
                </a:tc>
                <a:tc>
                  <a:txBody>
                    <a:bodyPr/>
                    <a:lstStyle/>
                    <a:p>
                      <a:pPr algn="l" fontAlgn="base">
                        <a:buNone/>
                      </a:pPr>
                      <a:r>
                        <a:rPr lang="en-US" dirty="0">
                          <a:latin typeface="Times New Roman" panose="02020603050405020304" pitchFamily="18" charset="0"/>
                          <a:cs typeface="Times New Roman" panose="02020603050405020304" pitchFamily="18" charset="0"/>
                        </a:rPr>
                        <a:t>No gesture control or real-time human interaction</a:t>
                      </a:r>
                      <a:endParaRPr lang="en-US" dirty="0">
                        <a:effectLst/>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870141651"/>
                  </a:ext>
                </a:extLst>
              </a:tr>
              <a:tr h="1001086">
                <a:tc>
                  <a:txBody>
                    <a:bodyPr/>
                    <a:lstStyle/>
                    <a:p>
                      <a:r>
                        <a:rPr lang="en-US" sz="2000">
                          <a:latin typeface="Times New Roman" panose="02020603050405020304" pitchFamily="18" charset="0"/>
                          <a:cs typeface="Times New Roman" panose="02020603050405020304" pitchFamily="18" charset="0"/>
                        </a:rPr>
                        <a:t>03</a:t>
                      </a:r>
                      <a:endParaRPr lang="en-IN" sz="2000" dirty="0">
                        <a:latin typeface="Times New Roman" panose="02020603050405020304" pitchFamily="18" charset="0"/>
                        <a:cs typeface="Times New Roman" panose="02020603050405020304" pitchFamily="18" charset="0"/>
                      </a:endParaRPr>
                    </a:p>
                  </a:txBody>
                  <a:tcPr/>
                </a:tc>
                <a:tc>
                  <a:txBody>
                    <a:bodyPr/>
                    <a:lstStyle/>
                    <a:p>
                      <a:pPr algn="l" fontAlgn="base">
                        <a:buNone/>
                      </a:pPr>
                      <a:r>
                        <a:rPr lang="en-IN" b="1" dirty="0">
                          <a:latin typeface="Times New Roman" panose="02020603050405020304" pitchFamily="18" charset="0"/>
                          <a:cs typeface="Times New Roman" panose="02020603050405020304" pitchFamily="18" charset="0"/>
                        </a:rPr>
                        <a:t>Communication &amp; Control</a:t>
                      </a:r>
                      <a:endParaRPr lang="en-IN" b="1" dirty="0">
                        <a:solidFill>
                          <a:schemeClr val="tx1"/>
                        </a:solidFill>
                        <a:effectLst/>
                        <a:latin typeface="Times New Roman" panose="02020603050405020304" pitchFamily="18" charset="0"/>
                        <a:cs typeface="Times New Roman" panose="02020603050405020304" pitchFamily="18" charset="0"/>
                      </a:endParaRPr>
                    </a:p>
                  </a:txBody>
                  <a:tcPr anchor="ctr"/>
                </a:tc>
                <a:tc>
                  <a:txBody>
                    <a:bodyPr/>
                    <a:lstStyle/>
                    <a:p>
                      <a:pPr algn="l" fontAlgn="base">
                        <a:buNone/>
                      </a:pPr>
                      <a:r>
                        <a:rPr lang="en-US" i="1" dirty="0">
                          <a:latin typeface="Times New Roman" panose="02020603050405020304" pitchFamily="18" charset="0"/>
                          <a:cs typeface="Times New Roman" panose="02020603050405020304" pitchFamily="18" charset="0"/>
                        </a:rPr>
                        <a:t>Secure Ground Control Station and Communication Architecture in UAV</a:t>
                      </a:r>
                      <a:endParaRPr lang="en-US" i="1" dirty="0">
                        <a:effectLst/>
                        <a:latin typeface="Times New Roman" panose="02020603050405020304" pitchFamily="18" charset="0"/>
                        <a:cs typeface="Times New Roman" panose="02020603050405020304" pitchFamily="18" charset="0"/>
                      </a:endParaRPr>
                    </a:p>
                  </a:txBody>
                  <a:tcPr anchor="ctr"/>
                </a:tc>
                <a:tc>
                  <a:txBody>
                    <a:bodyPr/>
                    <a:lstStyle/>
                    <a:p>
                      <a:pPr algn="l" fontAlgn="base">
                        <a:buNone/>
                      </a:pPr>
                      <a:r>
                        <a:rPr lang="en-US" dirty="0">
                          <a:latin typeface="Times New Roman" panose="02020603050405020304" pitchFamily="18" charset="0"/>
                          <a:cs typeface="Times New Roman" panose="02020603050405020304" pitchFamily="18" charset="0"/>
                        </a:rPr>
                        <a:t>Uses </a:t>
                      </a:r>
                      <a:r>
                        <a:rPr lang="en-US" dirty="0" err="1">
                          <a:latin typeface="Times New Roman" panose="02020603050405020304" pitchFamily="18" charset="0"/>
                          <a:cs typeface="Times New Roman" panose="02020603050405020304" pitchFamily="18" charset="0"/>
                        </a:rPr>
                        <a:t>MAVLink</a:t>
                      </a:r>
                      <a:r>
                        <a:rPr lang="en-US" dirty="0">
                          <a:latin typeface="Times New Roman" panose="02020603050405020304" pitchFamily="18" charset="0"/>
                          <a:cs typeface="Times New Roman" panose="02020603050405020304" pitchFamily="18" charset="0"/>
                        </a:rPr>
                        <a:t>-based communication, PID control, and secure UAV architecture</a:t>
                      </a:r>
                      <a:endParaRPr lang="en-US" dirty="0">
                        <a:effectLst/>
                        <a:latin typeface="Times New Roman" panose="02020603050405020304" pitchFamily="18" charset="0"/>
                        <a:cs typeface="Times New Roman" panose="02020603050405020304" pitchFamily="18" charset="0"/>
                      </a:endParaRPr>
                    </a:p>
                  </a:txBody>
                  <a:tcPr anchor="ctr"/>
                </a:tc>
                <a:tc>
                  <a:txBody>
                    <a:bodyPr/>
                    <a:lstStyle/>
                    <a:p>
                      <a:pPr algn="l" fontAlgn="base">
                        <a:buNone/>
                      </a:pPr>
                      <a:r>
                        <a:rPr lang="en-US" dirty="0">
                          <a:latin typeface="Times New Roman" panose="02020603050405020304" pitchFamily="18" charset="0"/>
                          <a:cs typeface="Times New Roman" panose="02020603050405020304" pitchFamily="18" charset="0"/>
                        </a:rPr>
                        <a:t>Focuses only on communication, lacks AI vision and gesture systems</a:t>
                      </a:r>
                      <a:endParaRPr lang="en-US" dirty="0">
                        <a:effectLst/>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113078219"/>
                  </a:ext>
                </a:extLst>
              </a:tr>
              <a:tr h="1103288">
                <a:tc>
                  <a:txBody>
                    <a:bodyPr/>
                    <a:lstStyle/>
                    <a:p>
                      <a:pPr marL="0" indent="0">
                        <a:buFont typeface="+mj-lt"/>
                        <a:buNone/>
                      </a:pPr>
                      <a:r>
                        <a:rPr lang="en-US" sz="2000">
                          <a:latin typeface="Times New Roman" panose="02020603050405020304" pitchFamily="18" charset="0"/>
                          <a:cs typeface="Times New Roman" panose="02020603050405020304" pitchFamily="18" charset="0"/>
                        </a:rPr>
                        <a:t>04</a:t>
                      </a:r>
                      <a:endParaRPr lang="en-IN" sz="2000" dirty="0">
                        <a:latin typeface="Times New Roman" panose="02020603050405020304" pitchFamily="18" charset="0"/>
                        <a:cs typeface="Times New Roman" panose="02020603050405020304" pitchFamily="18" charset="0"/>
                      </a:endParaRPr>
                    </a:p>
                  </a:txBody>
                  <a:tcPr/>
                </a:tc>
                <a:tc>
                  <a:txBody>
                    <a:bodyPr/>
                    <a:lstStyle/>
                    <a:p>
                      <a:pPr algn="l" fontAlgn="base">
                        <a:buNone/>
                      </a:pPr>
                      <a:r>
                        <a:rPr lang="en-IN" b="1" dirty="0">
                          <a:latin typeface="Times New Roman" panose="02020603050405020304" pitchFamily="18" charset="0"/>
                          <a:cs typeface="Times New Roman" panose="02020603050405020304" pitchFamily="18" charset="0"/>
                        </a:rPr>
                        <a:t>Computer Vision</a:t>
                      </a:r>
                      <a:endParaRPr lang="en-IN" b="1" dirty="0">
                        <a:solidFill>
                          <a:schemeClr val="tx1"/>
                        </a:solidFill>
                        <a:effectLst/>
                        <a:latin typeface="Times New Roman" panose="02020603050405020304" pitchFamily="18" charset="0"/>
                        <a:cs typeface="Times New Roman" panose="02020603050405020304" pitchFamily="18" charset="0"/>
                      </a:endParaRPr>
                    </a:p>
                  </a:txBody>
                  <a:tcPr anchor="ctr"/>
                </a:tc>
                <a:tc>
                  <a:txBody>
                    <a:bodyPr/>
                    <a:lstStyle/>
                    <a:p>
                      <a:pPr algn="l" fontAlgn="base">
                        <a:buNone/>
                      </a:pPr>
                      <a:r>
                        <a:rPr lang="en-US" i="1" dirty="0">
                          <a:latin typeface="Times New Roman" panose="02020603050405020304" pitchFamily="18" charset="0"/>
                          <a:cs typeface="Times New Roman" panose="02020603050405020304" pitchFamily="18" charset="0"/>
                        </a:rPr>
                        <a:t>Using AI Supported Computer Vision on UAVs</a:t>
                      </a:r>
                      <a:endParaRPr lang="en-US" i="1" dirty="0">
                        <a:effectLst/>
                        <a:latin typeface="Times New Roman" panose="02020603050405020304" pitchFamily="18" charset="0"/>
                        <a:cs typeface="Times New Roman" panose="02020603050405020304" pitchFamily="18" charset="0"/>
                      </a:endParaRPr>
                    </a:p>
                  </a:txBody>
                  <a:tcPr anchor="ctr"/>
                </a:tc>
                <a:tc>
                  <a:txBody>
                    <a:bodyPr/>
                    <a:lstStyle/>
                    <a:p>
                      <a:pPr algn="l" fontAlgn="base">
                        <a:buNone/>
                      </a:pPr>
                      <a:r>
                        <a:rPr lang="en-US" dirty="0">
                          <a:latin typeface="Times New Roman" panose="02020603050405020304" pitchFamily="18" charset="0"/>
                          <a:cs typeface="Times New Roman" panose="02020603050405020304" pitchFamily="18" charset="0"/>
                        </a:rPr>
                        <a:t>Uses deep learning models like CNN &amp; YOLO for object detection and image processing</a:t>
                      </a:r>
                      <a:endParaRPr lang="en-US" dirty="0">
                        <a:effectLst/>
                        <a:latin typeface="Times New Roman" panose="02020603050405020304" pitchFamily="18" charset="0"/>
                        <a:cs typeface="Times New Roman" panose="02020603050405020304" pitchFamily="18" charset="0"/>
                      </a:endParaRPr>
                    </a:p>
                  </a:txBody>
                  <a:tcPr anchor="ctr"/>
                </a:tc>
                <a:tc>
                  <a:txBody>
                    <a:bodyPr/>
                    <a:lstStyle/>
                    <a:p>
                      <a:pPr algn="l" fontAlgn="base">
                        <a:buNone/>
                      </a:pPr>
                      <a:r>
                        <a:rPr lang="en-US" dirty="0">
                          <a:latin typeface="Times New Roman" panose="02020603050405020304" pitchFamily="18" charset="0"/>
                          <a:cs typeface="Times New Roman" panose="02020603050405020304" pitchFamily="18" charset="0"/>
                        </a:rPr>
                        <a:t>No integration with drone control or gesture interaction</a:t>
                      </a:r>
                      <a:endParaRPr lang="en-US" dirty="0">
                        <a:effectLst/>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073633068"/>
                  </a:ext>
                </a:extLst>
              </a:tr>
              <a:tr h="1202301">
                <a:tc>
                  <a:txBody>
                    <a:bodyPr/>
                    <a:lstStyle/>
                    <a:p>
                      <a:r>
                        <a:rPr lang="en-US" sz="2000" dirty="0">
                          <a:latin typeface="Times New Roman" panose="02020603050405020304" pitchFamily="18" charset="0"/>
                          <a:cs typeface="Times New Roman" panose="02020603050405020304" pitchFamily="18" charset="0"/>
                        </a:rPr>
                        <a:t>05</a:t>
                      </a:r>
                      <a:endParaRPr lang="en-IN" sz="2000" dirty="0">
                        <a:latin typeface="Times New Roman" panose="02020603050405020304" pitchFamily="18" charset="0"/>
                        <a:cs typeface="Times New Roman" panose="02020603050405020304" pitchFamily="18" charset="0"/>
                      </a:endParaRPr>
                    </a:p>
                  </a:txBody>
                  <a:tcPr/>
                </a:tc>
                <a:tc>
                  <a:txBody>
                    <a:bodyPr/>
                    <a:lstStyle/>
                    <a:p>
                      <a:pPr algn="l" fontAlgn="base">
                        <a:buNone/>
                      </a:pPr>
                      <a:r>
                        <a:rPr lang="en-IN" b="1" dirty="0">
                          <a:latin typeface="Times New Roman" panose="02020603050405020304" pitchFamily="18" charset="0"/>
                          <a:cs typeface="Times New Roman" panose="02020603050405020304" pitchFamily="18" charset="0"/>
                        </a:rPr>
                        <a:t>Surveillance Systems</a:t>
                      </a:r>
                      <a:endParaRPr lang="en-IN" b="1" dirty="0">
                        <a:solidFill>
                          <a:schemeClr val="tx1"/>
                        </a:solidFill>
                        <a:effectLst/>
                        <a:latin typeface="Times New Roman" panose="02020603050405020304" pitchFamily="18" charset="0"/>
                        <a:cs typeface="Times New Roman" panose="02020603050405020304" pitchFamily="18" charset="0"/>
                      </a:endParaRPr>
                    </a:p>
                  </a:txBody>
                  <a:tcPr marB="152400" anchor="ctr"/>
                </a:tc>
                <a:tc>
                  <a:txBody>
                    <a:bodyPr/>
                    <a:lstStyle/>
                    <a:p>
                      <a:pPr algn="l" fontAlgn="base">
                        <a:buNone/>
                      </a:pPr>
                      <a:r>
                        <a:rPr lang="en-IN" i="1" dirty="0">
                          <a:latin typeface="Times New Roman" panose="02020603050405020304" pitchFamily="18" charset="0"/>
                          <a:cs typeface="Times New Roman" panose="02020603050405020304" pitchFamily="18" charset="0"/>
                        </a:rPr>
                        <a:t>Intelligent Surveillance Using Drones</a:t>
                      </a:r>
                      <a:endParaRPr lang="en-IN" i="1" dirty="0">
                        <a:effectLst/>
                        <a:latin typeface="Times New Roman" panose="02020603050405020304" pitchFamily="18" charset="0"/>
                        <a:cs typeface="Times New Roman" panose="02020603050405020304" pitchFamily="18" charset="0"/>
                      </a:endParaRPr>
                    </a:p>
                  </a:txBody>
                  <a:tcPr marB="152400" anchor="ctr"/>
                </a:tc>
                <a:tc>
                  <a:txBody>
                    <a:bodyPr/>
                    <a:lstStyle/>
                    <a:p>
                      <a:pPr algn="l" fontAlgn="base">
                        <a:buNone/>
                      </a:pPr>
                      <a:r>
                        <a:rPr lang="en-US" dirty="0">
                          <a:latin typeface="Times New Roman" panose="02020603050405020304" pitchFamily="18" charset="0"/>
                          <a:cs typeface="Times New Roman" panose="02020603050405020304" pitchFamily="18" charset="0"/>
                        </a:rPr>
                        <a:t>Uses AI, sensors, and computer vision for monitoring, tracking, and detection</a:t>
                      </a:r>
                      <a:endParaRPr lang="en-US" dirty="0">
                        <a:effectLst/>
                        <a:latin typeface="Times New Roman" panose="02020603050405020304" pitchFamily="18" charset="0"/>
                        <a:cs typeface="Times New Roman" panose="02020603050405020304" pitchFamily="18" charset="0"/>
                      </a:endParaRPr>
                    </a:p>
                  </a:txBody>
                  <a:tcPr marB="152400" anchor="ctr"/>
                </a:tc>
                <a:tc>
                  <a:txBody>
                    <a:bodyPr/>
                    <a:lstStyle/>
                    <a:p>
                      <a:pPr algn="l" fontAlgn="base">
                        <a:buNone/>
                      </a:pPr>
                      <a:r>
                        <a:rPr lang="en-US" dirty="0">
                          <a:latin typeface="Times New Roman" panose="02020603050405020304" pitchFamily="18" charset="0"/>
                          <a:cs typeface="Times New Roman" panose="02020603050405020304" pitchFamily="18" charset="0"/>
                        </a:rPr>
                        <a:t>Lacks user interaction (gesture/face control) and real-time manual override</a:t>
                      </a:r>
                      <a:endParaRPr lang="en-US" dirty="0">
                        <a:effectLst/>
                        <a:latin typeface="Times New Roman" panose="02020603050405020304" pitchFamily="18" charset="0"/>
                        <a:cs typeface="Times New Roman" panose="02020603050405020304" pitchFamily="18" charset="0"/>
                      </a:endParaRPr>
                    </a:p>
                  </a:txBody>
                  <a:tcPr marB="152400" anchor="ctr"/>
                </a:tc>
                <a:extLst>
                  <a:ext uri="{0D108BD9-81ED-4DB2-BD59-A6C34878D82A}">
                    <a16:rowId xmlns:a16="http://schemas.microsoft.com/office/drawing/2014/main" val="2465630333"/>
                  </a:ext>
                </a:extLst>
              </a:tr>
            </a:tbl>
          </a:graphicData>
        </a:graphic>
      </p:graphicFrame>
    </p:spTree>
    <p:extLst>
      <p:ext uri="{BB962C8B-B14F-4D97-AF65-F5344CB8AC3E}">
        <p14:creationId xmlns:p14="http://schemas.microsoft.com/office/powerpoint/2010/main" val="2558835575"/>
      </p:ext>
    </p:extLst>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1C1D62-5A8F-EFB6-4EDC-FBA480FE5DB5}"/>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270DA307-D46E-56AA-D0C3-1E5C4BBC774A}"/>
              </a:ext>
            </a:extLst>
          </p:cNvPr>
          <p:cNvPicPr>
            <a:picLocks noChangeAspect="1"/>
          </p:cNvPicPr>
          <p:nvPr/>
        </p:nvPicPr>
        <p:blipFill>
          <a:blip r:embed="rId2"/>
          <a:stretch>
            <a:fillRect/>
          </a:stretch>
        </p:blipFill>
        <p:spPr>
          <a:xfrm>
            <a:off x="11191875" y="0"/>
            <a:ext cx="1000125" cy="1076325"/>
          </a:xfrm>
          <a:prstGeom prst="rect">
            <a:avLst/>
          </a:prstGeom>
        </p:spPr>
      </p:pic>
      <p:sp>
        <p:nvSpPr>
          <p:cNvPr id="4" name="Date Placeholder 3">
            <a:extLst>
              <a:ext uri="{FF2B5EF4-FFF2-40B4-BE49-F238E27FC236}">
                <a16:creationId xmlns:a16="http://schemas.microsoft.com/office/drawing/2014/main" id="{CCBD89D1-4DDE-3615-780A-F2AFF07B1470}"/>
              </a:ext>
            </a:extLst>
          </p:cNvPr>
          <p:cNvSpPr>
            <a:spLocks noGrp="1"/>
          </p:cNvSpPr>
          <p:nvPr>
            <p:ph type="dt" sz="half" idx="10"/>
          </p:nvPr>
        </p:nvSpPr>
        <p:spPr/>
        <p:txBody>
          <a:bodyPr/>
          <a:lstStyle/>
          <a:p>
            <a:r>
              <a:rPr lang="en-US" dirty="0"/>
              <a:t>AI &amp; DS</a:t>
            </a:r>
            <a:endParaRPr lang="en-IN" dirty="0"/>
          </a:p>
        </p:txBody>
      </p:sp>
      <p:sp>
        <p:nvSpPr>
          <p:cNvPr id="6" name="Slide Number Placeholder 5">
            <a:extLst>
              <a:ext uri="{FF2B5EF4-FFF2-40B4-BE49-F238E27FC236}">
                <a16:creationId xmlns:a16="http://schemas.microsoft.com/office/drawing/2014/main" id="{94CBFDE1-DA50-0345-2604-E33F610BCF8A}"/>
              </a:ext>
            </a:extLst>
          </p:cNvPr>
          <p:cNvSpPr>
            <a:spLocks noGrp="1"/>
          </p:cNvSpPr>
          <p:nvPr>
            <p:ph type="sldNum" sz="quarter" idx="12"/>
          </p:nvPr>
        </p:nvSpPr>
        <p:spPr/>
        <p:txBody>
          <a:bodyPr/>
          <a:lstStyle/>
          <a:p>
            <a:r>
              <a:rPr lang="en-IN" dirty="0"/>
              <a:t>2026-27</a:t>
            </a:r>
          </a:p>
        </p:txBody>
      </p:sp>
      <p:sp>
        <p:nvSpPr>
          <p:cNvPr id="5" name="Footer Placeholder 4">
            <a:extLst>
              <a:ext uri="{FF2B5EF4-FFF2-40B4-BE49-F238E27FC236}">
                <a16:creationId xmlns:a16="http://schemas.microsoft.com/office/drawing/2014/main" id="{D4109C1A-1012-994E-E9FF-A16C6D60F830}"/>
              </a:ext>
            </a:extLst>
          </p:cNvPr>
          <p:cNvSpPr>
            <a:spLocks noGrp="1"/>
          </p:cNvSpPr>
          <p:nvPr>
            <p:ph type="ftr" sz="quarter" idx="11"/>
          </p:nvPr>
        </p:nvSpPr>
        <p:spPr/>
        <p:txBody>
          <a:bodyPr/>
          <a:lstStyle/>
          <a:p>
            <a:r>
              <a:rPr lang="en-US" dirty="0"/>
              <a:t>5</a:t>
            </a:r>
            <a:endParaRPr lang="en-IN" dirty="0"/>
          </a:p>
        </p:txBody>
      </p:sp>
      <p:sp>
        <p:nvSpPr>
          <p:cNvPr id="3" name="TextBox 2">
            <a:extLst>
              <a:ext uri="{FF2B5EF4-FFF2-40B4-BE49-F238E27FC236}">
                <a16:creationId xmlns:a16="http://schemas.microsoft.com/office/drawing/2014/main" id="{88A16BED-B11B-F214-827D-5C9C992B1048}"/>
              </a:ext>
            </a:extLst>
          </p:cNvPr>
          <p:cNvSpPr txBox="1"/>
          <p:nvPr/>
        </p:nvSpPr>
        <p:spPr>
          <a:xfrm>
            <a:off x="578840" y="458956"/>
            <a:ext cx="10774960" cy="5570756"/>
          </a:xfrm>
          <a:prstGeom prst="rect">
            <a:avLst/>
          </a:prstGeom>
          <a:noFill/>
        </p:spPr>
        <p:txBody>
          <a:bodyPr wrap="square">
            <a:spAutoFit/>
          </a:bodyPr>
          <a:lstStyle/>
          <a:p>
            <a:pPr algn="ctr">
              <a:buNone/>
            </a:pPr>
            <a:r>
              <a:rPr lang="en-US" sz="4000" b="1" dirty="0">
                <a:latin typeface="Times New Roman" panose="02020603050405020304" pitchFamily="18" charset="0"/>
                <a:cs typeface="Times New Roman" panose="02020603050405020304" pitchFamily="18" charset="0"/>
              </a:rPr>
              <a:t>Existing System</a:t>
            </a:r>
          </a:p>
          <a:p>
            <a:pPr algn="just">
              <a:buNone/>
            </a:pPr>
            <a:r>
              <a:rPr lang="en-US" sz="2400" dirty="0">
                <a:latin typeface="Times New Roman" panose="02020603050405020304" pitchFamily="18" charset="0"/>
                <a:cs typeface="Times New Roman" panose="02020603050405020304" pitchFamily="18" charset="0"/>
              </a:rPr>
              <a:t>Traditional drone systems rely heavily on remote controllers, which require user training and are not very intuitive for beginners. Most systems depend on manual input, making operation complex and less accessible for non-technical users. In many cases, control accuracy depends on the user’s skill, which can lead to errors during </a:t>
            </a:r>
            <a:r>
              <a:rPr lang="en-US" sz="2400">
                <a:latin typeface="Times New Roman" panose="02020603050405020304" pitchFamily="18" charset="0"/>
                <a:cs typeface="Times New Roman" panose="02020603050405020304" pitchFamily="18" charset="0"/>
              </a:rPr>
              <a:t>navigation.They</a:t>
            </a:r>
            <a:r>
              <a:rPr lang="en-US" sz="2400" dirty="0">
                <a:latin typeface="Times New Roman" panose="02020603050405020304" pitchFamily="18" charset="0"/>
                <a:cs typeface="Times New Roman" panose="02020603050405020304" pitchFamily="18" charset="0"/>
              </a:rPr>
              <a:t> also lack flexibility and require constant manual supervision, reducing efficiency in dynamic environments.</a:t>
            </a:r>
          </a:p>
          <a:p>
            <a:pPr algn="just">
              <a:buNone/>
            </a:pPr>
            <a:r>
              <a:rPr lang="en-US" sz="2800" b="1" dirty="0">
                <a:latin typeface="Times New Roman" panose="02020603050405020304" pitchFamily="18" charset="0"/>
                <a:cs typeface="Times New Roman" panose="02020603050405020304" pitchFamily="18" charset="0"/>
              </a:rPr>
              <a:t>Disadvantages</a:t>
            </a:r>
            <a:r>
              <a:rPr lang="en-US" sz="2400" b="1" dirty="0">
                <a:latin typeface="Times New Roman" panose="02020603050405020304" pitchFamily="18" charset="0"/>
                <a:cs typeface="Times New Roman" panose="02020603050405020304" pitchFamily="18" charset="0"/>
              </a:rPr>
              <a:t>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Requires physical remote controller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Not user-friendly for beginners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No natural human interaction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Gesture and face control not integrated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Limited automation features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Requires training to operate</a:t>
            </a:r>
          </a:p>
        </p:txBody>
      </p:sp>
    </p:spTree>
    <p:extLst>
      <p:ext uri="{BB962C8B-B14F-4D97-AF65-F5344CB8AC3E}">
        <p14:creationId xmlns:p14="http://schemas.microsoft.com/office/powerpoint/2010/main" val="186287334"/>
      </p:ext>
    </p:extLst>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71FFD-88FC-597C-26DB-335797AE688B}"/>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85AE7D34-4B68-8981-400E-D8CFE98E4869}"/>
              </a:ext>
            </a:extLst>
          </p:cNvPr>
          <p:cNvPicPr>
            <a:picLocks noChangeAspect="1"/>
          </p:cNvPicPr>
          <p:nvPr/>
        </p:nvPicPr>
        <p:blipFill>
          <a:blip r:embed="rId2"/>
          <a:stretch>
            <a:fillRect/>
          </a:stretch>
        </p:blipFill>
        <p:spPr>
          <a:xfrm>
            <a:off x="11191875" y="0"/>
            <a:ext cx="1000125" cy="1076325"/>
          </a:xfrm>
          <a:prstGeom prst="rect">
            <a:avLst/>
          </a:prstGeom>
        </p:spPr>
      </p:pic>
      <p:sp>
        <p:nvSpPr>
          <p:cNvPr id="4" name="Date Placeholder 3">
            <a:extLst>
              <a:ext uri="{FF2B5EF4-FFF2-40B4-BE49-F238E27FC236}">
                <a16:creationId xmlns:a16="http://schemas.microsoft.com/office/drawing/2014/main" id="{EF6E04B6-74D7-5B40-357F-16F62A0556F1}"/>
              </a:ext>
            </a:extLst>
          </p:cNvPr>
          <p:cNvSpPr>
            <a:spLocks noGrp="1"/>
          </p:cNvSpPr>
          <p:nvPr>
            <p:ph type="dt" sz="half" idx="10"/>
          </p:nvPr>
        </p:nvSpPr>
        <p:spPr/>
        <p:txBody>
          <a:bodyPr/>
          <a:lstStyle/>
          <a:p>
            <a:r>
              <a:rPr lang="en-US" dirty="0"/>
              <a:t>AI &amp; DS</a:t>
            </a:r>
            <a:endParaRPr lang="en-IN" dirty="0"/>
          </a:p>
        </p:txBody>
      </p:sp>
      <p:sp>
        <p:nvSpPr>
          <p:cNvPr id="6" name="Slide Number Placeholder 5">
            <a:extLst>
              <a:ext uri="{FF2B5EF4-FFF2-40B4-BE49-F238E27FC236}">
                <a16:creationId xmlns:a16="http://schemas.microsoft.com/office/drawing/2014/main" id="{678A273F-6EBE-7B5D-5E66-0C358D4FCB01}"/>
              </a:ext>
            </a:extLst>
          </p:cNvPr>
          <p:cNvSpPr>
            <a:spLocks noGrp="1"/>
          </p:cNvSpPr>
          <p:nvPr>
            <p:ph type="sldNum" sz="quarter" idx="12"/>
          </p:nvPr>
        </p:nvSpPr>
        <p:spPr/>
        <p:txBody>
          <a:bodyPr/>
          <a:lstStyle/>
          <a:p>
            <a:r>
              <a:rPr lang="en-IN" dirty="0"/>
              <a:t>2026-27</a:t>
            </a:r>
          </a:p>
        </p:txBody>
      </p:sp>
      <p:sp>
        <p:nvSpPr>
          <p:cNvPr id="5" name="Footer Placeholder 4">
            <a:extLst>
              <a:ext uri="{FF2B5EF4-FFF2-40B4-BE49-F238E27FC236}">
                <a16:creationId xmlns:a16="http://schemas.microsoft.com/office/drawing/2014/main" id="{1C6AB20A-7C44-8C80-C98B-E7E7E7CE84B7}"/>
              </a:ext>
            </a:extLst>
          </p:cNvPr>
          <p:cNvSpPr>
            <a:spLocks noGrp="1"/>
          </p:cNvSpPr>
          <p:nvPr>
            <p:ph type="ftr" sz="quarter" idx="11"/>
          </p:nvPr>
        </p:nvSpPr>
        <p:spPr/>
        <p:txBody>
          <a:bodyPr/>
          <a:lstStyle/>
          <a:p>
            <a:r>
              <a:rPr lang="en-US" dirty="0"/>
              <a:t>6</a:t>
            </a:r>
            <a:endParaRPr lang="en-IN" dirty="0"/>
          </a:p>
        </p:txBody>
      </p:sp>
      <p:sp>
        <p:nvSpPr>
          <p:cNvPr id="9" name="TextBox 8">
            <a:extLst>
              <a:ext uri="{FF2B5EF4-FFF2-40B4-BE49-F238E27FC236}">
                <a16:creationId xmlns:a16="http://schemas.microsoft.com/office/drawing/2014/main" id="{6499D0BB-926E-FFF8-72B7-C487D76E16BB}"/>
              </a:ext>
            </a:extLst>
          </p:cNvPr>
          <p:cNvSpPr txBox="1"/>
          <p:nvPr/>
        </p:nvSpPr>
        <p:spPr>
          <a:xfrm>
            <a:off x="624840" y="430302"/>
            <a:ext cx="10826132" cy="6093976"/>
          </a:xfrm>
          <a:prstGeom prst="rect">
            <a:avLst/>
          </a:prstGeom>
          <a:noFill/>
        </p:spPr>
        <p:txBody>
          <a:bodyPr wrap="square">
            <a:spAutoFit/>
          </a:bodyPr>
          <a:lstStyle/>
          <a:p>
            <a:pPr algn="ctr">
              <a:buNone/>
            </a:pPr>
            <a:r>
              <a:rPr lang="en-US" sz="3000" b="1" dirty="0">
                <a:latin typeface="Times New Roman" panose="02020603050405020304" pitchFamily="18" charset="0"/>
                <a:cs typeface="Times New Roman" panose="02020603050405020304" pitchFamily="18" charset="0"/>
              </a:rPr>
              <a:t>Proposed System</a:t>
            </a:r>
          </a:p>
          <a:p>
            <a:pPr algn="just">
              <a:buNone/>
            </a:pPr>
            <a:endParaRPr lang="en-US" sz="2400" dirty="0">
              <a:latin typeface="Times New Roman" panose="02020603050405020304" pitchFamily="18" charset="0"/>
              <a:cs typeface="Times New Roman" panose="02020603050405020304" pitchFamily="18" charset="0"/>
            </a:endParaRPr>
          </a:p>
          <a:p>
            <a:pPr algn="just">
              <a:buNone/>
            </a:pPr>
            <a:r>
              <a:rPr lang="en-US" sz="2400" dirty="0"/>
              <a:t>The proposed system presents an AI-based gesture and face-controlled autonomous drone that enables intuitive, touchless interaction without the need for a traditional remote controller. The system uses a webcam to capture real-time video, where OpenCV and </a:t>
            </a:r>
            <a:r>
              <a:rPr lang="en-US" sz="2400" dirty="0" err="1"/>
              <a:t>MediaPipe</a:t>
            </a:r>
            <a:r>
              <a:rPr lang="en-US" sz="2400" dirty="0"/>
              <a:t> are employed to detect hand gestures and facial features. Based on the detected gestures, movement commands such as takeoff, landing, and directional control are generated, while face detection enables the drone to track and follow a user automatically. These commands are transmitted through MAVSDK using the </a:t>
            </a:r>
            <a:r>
              <a:rPr lang="en-US" sz="2400" dirty="0" err="1"/>
              <a:t>MAVLink</a:t>
            </a:r>
            <a:r>
              <a:rPr lang="en-US" sz="2400" dirty="0"/>
              <a:t> protocol to the PX4 autopilot, which executes them within the Gazebo simulation environment. The system also supports autonomous features such as stable hover, smooth navigation, and real-time responsiveness. By integrating gesture control, face tracking, and autonomous flight into a single platform, the proposed system enhances usability, reduces manual effort, and provides a more natural and efficient human-drone interaction.</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0646598"/>
      </p:ext>
    </p:extLst>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E25147-531B-3A8A-3C90-7BB7F73732FF}"/>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3EB742F8-2BC3-8C23-B5C2-8A864409F325}"/>
              </a:ext>
            </a:extLst>
          </p:cNvPr>
          <p:cNvPicPr>
            <a:picLocks noChangeAspect="1"/>
          </p:cNvPicPr>
          <p:nvPr/>
        </p:nvPicPr>
        <p:blipFill>
          <a:blip r:embed="rId2"/>
          <a:stretch>
            <a:fillRect/>
          </a:stretch>
        </p:blipFill>
        <p:spPr>
          <a:xfrm>
            <a:off x="11191875" y="0"/>
            <a:ext cx="1000125" cy="1076325"/>
          </a:xfrm>
          <a:prstGeom prst="rect">
            <a:avLst/>
          </a:prstGeom>
        </p:spPr>
      </p:pic>
      <p:sp>
        <p:nvSpPr>
          <p:cNvPr id="4" name="Date Placeholder 3">
            <a:extLst>
              <a:ext uri="{FF2B5EF4-FFF2-40B4-BE49-F238E27FC236}">
                <a16:creationId xmlns:a16="http://schemas.microsoft.com/office/drawing/2014/main" id="{12357A3F-B3C3-060A-3E27-55BF2ADCB7CF}"/>
              </a:ext>
            </a:extLst>
          </p:cNvPr>
          <p:cNvSpPr>
            <a:spLocks noGrp="1"/>
          </p:cNvSpPr>
          <p:nvPr>
            <p:ph type="dt" sz="half" idx="10"/>
          </p:nvPr>
        </p:nvSpPr>
        <p:spPr/>
        <p:txBody>
          <a:bodyPr/>
          <a:lstStyle/>
          <a:p>
            <a:r>
              <a:rPr lang="en-US" dirty="0"/>
              <a:t>AI &amp; DS</a:t>
            </a:r>
            <a:endParaRPr lang="en-IN" dirty="0"/>
          </a:p>
        </p:txBody>
      </p:sp>
      <p:sp>
        <p:nvSpPr>
          <p:cNvPr id="6" name="Slide Number Placeholder 5">
            <a:extLst>
              <a:ext uri="{FF2B5EF4-FFF2-40B4-BE49-F238E27FC236}">
                <a16:creationId xmlns:a16="http://schemas.microsoft.com/office/drawing/2014/main" id="{CFF24A26-16DE-B5F1-F740-C9C65FFCC12E}"/>
              </a:ext>
            </a:extLst>
          </p:cNvPr>
          <p:cNvSpPr>
            <a:spLocks noGrp="1"/>
          </p:cNvSpPr>
          <p:nvPr>
            <p:ph type="sldNum" sz="quarter" idx="12"/>
          </p:nvPr>
        </p:nvSpPr>
        <p:spPr/>
        <p:txBody>
          <a:bodyPr/>
          <a:lstStyle/>
          <a:p>
            <a:r>
              <a:rPr lang="en-IN" dirty="0"/>
              <a:t>2026-27</a:t>
            </a:r>
          </a:p>
        </p:txBody>
      </p:sp>
      <p:sp>
        <p:nvSpPr>
          <p:cNvPr id="5" name="Footer Placeholder 4">
            <a:extLst>
              <a:ext uri="{FF2B5EF4-FFF2-40B4-BE49-F238E27FC236}">
                <a16:creationId xmlns:a16="http://schemas.microsoft.com/office/drawing/2014/main" id="{F8506B46-66FD-1361-1358-4F3BD4A7D603}"/>
              </a:ext>
            </a:extLst>
          </p:cNvPr>
          <p:cNvSpPr>
            <a:spLocks noGrp="1"/>
          </p:cNvSpPr>
          <p:nvPr>
            <p:ph type="ftr" sz="quarter" idx="11"/>
          </p:nvPr>
        </p:nvSpPr>
        <p:spPr/>
        <p:txBody>
          <a:bodyPr/>
          <a:lstStyle/>
          <a:p>
            <a:r>
              <a:rPr lang="en-US" dirty="0"/>
              <a:t>7</a:t>
            </a:r>
            <a:endParaRPr lang="en-IN" dirty="0"/>
          </a:p>
        </p:txBody>
      </p:sp>
      <p:sp>
        <p:nvSpPr>
          <p:cNvPr id="9" name="TextBox 8">
            <a:extLst>
              <a:ext uri="{FF2B5EF4-FFF2-40B4-BE49-F238E27FC236}">
                <a16:creationId xmlns:a16="http://schemas.microsoft.com/office/drawing/2014/main" id="{5BB08DF8-BCF4-68AD-E0DD-DB641CDDF9D7}"/>
              </a:ext>
            </a:extLst>
          </p:cNvPr>
          <p:cNvSpPr txBox="1"/>
          <p:nvPr/>
        </p:nvSpPr>
        <p:spPr>
          <a:xfrm>
            <a:off x="553673" y="199443"/>
            <a:ext cx="10638201" cy="6309420"/>
          </a:xfrm>
          <a:prstGeom prst="rect">
            <a:avLst/>
          </a:prstGeom>
          <a:noFill/>
        </p:spPr>
        <p:txBody>
          <a:bodyPr wrap="square">
            <a:spAutoFit/>
          </a:bodyPr>
          <a:lstStyle/>
          <a:p>
            <a:pPr algn="ctr">
              <a:buNone/>
            </a:pPr>
            <a:r>
              <a:rPr lang="en-US" sz="3000" b="1" dirty="0">
                <a:latin typeface="Times New Roman" panose="02020603050405020304" pitchFamily="18" charset="0"/>
                <a:cs typeface="Times New Roman" panose="02020603050405020304" pitchFamily="18" charset="0"/>
              </a:rPr>
              <a:t>METHODOLOGY</a:t>
            </a:r>
          </a:p>
          <a:p>
            <a:pPr algn="just">
              <a:buNone/>
            </a:pPr>
            <a:endParaRPr lang="en-US" sz="2200" b="1" dirty="0">
              <a:latin typeface="Times New Roman" panose="02020603050405020304" pitchFamily="18" charset="0"/>
              <a:cs typeface="Times New Roman" panose="02020603050405020304" pitchFamily="18" charset="0"/>
            </a:endParaRPr>
          </a:p>
          <a:p>
            <a:pPr algn="just">
              <a:buNone/>
            </a:pPr>
            <a:r>
              <a:rPr lang="en-IN" sz="2200" b="1" dirty="0">
                <a:latin typeface="Times New Roman" panose="02020603050405020304" pitchFamily="18" charset="0"/>
                <a:cs typeface="Times New Roman" panose="02020603050405020304" pitchFamily="18" charset="0"/>
              </a:rPr>
              <a:t>Input</a:t>
            </a:r>
            <a:r>
              <a:rPr lang="en-US" sz="2200" b="1" dirty="0">
                <a:latin typeface="Times New Roman" panose="02020603050405020304" pitchFamily="18" charset="0"/>
                <a:cs typeface="Times New Roman" panose="02020603050405020304" pitchFamily="18" charset="0"/>
              </a:rPr>
              <a:t>:</a:t>
            </a:r>
            <a:r>
              <a:rPr lang="en-US" sz="2200" dirty="0">
                <a:latin typeface="Times New Roman" panose="02020603050405020304" pitchFamily="18" charset="0"/>
                <a:cs typeface="Times New Roman" panose="02020603050405020304" pitchFamily="18" charset="0"/>
              </a:rPr>
              <a:t>The system captures real-time video input using a webcam, or by uploading, which continuously records the user’s hand gestures and facial features.</a:t>
            </a:r>
          </a:p>
          <a:p>
            <a:pPr algn="just">
              <a:buNone/>
            </a:pPr>
            <a:r>
              <a:rPr lang="en-IN" sz="2200" b="1" dirty="0">
                <a:latin typeface="Times New Roman" panose="02020603050405020304" pitchFamily="18" charset="0"/>
                <a:cs typeface="Times New Roman" panose="02020603050405020304" pitchFamily="18" charset="0"/>
              </a:rPr>
              <a:t>Image Processing</a:t>
            </a:r>
            <a:r>
              <a:rPr lang="en-US" sz="2200" b="1" dirty="0">
                <a:latin typeface="Times New Roman" panose="02020603050405020304" pitchFamily="18" charset="0"/>
                <a:cs typeface="Times New Roman" panose="02020603050405020304" pitchFamily="18" charset="0"/>
              </a:rPr>
              <a:t>:</a:t>
            </a:r>
            <a:r>
              <a:rPr lang="en-US" sz="2200" dirty="0">
                <a:latin typeface="Times New Roman" panose="02020603050405020304" pitchFamily="18" charset="0"/>
                <a:cs typeface="Times New Roman" panose="02020603050405020304" pitchFamily="18" charset="0"/>
              </a:rPr>
              <a:t>The captured video frames are processed using OpenCV to enhance image quality and prepare them for detection.</a:t>
            </a:r>
          </a:p>
          <a:p>
            <a:pPr algn="just">
              <a:buNone/>
            </a:pPr>
            <a:r>
              <a:rPr lang="en-IN" sz="2200" b="1" dirty="0">
                <a:latin typeface="Times New Roman" panose="02020603050405020304" pitchFamily="18" charset="0"/>
                <a:cs typeface="Times New Roman" panose="02020603050405020304" pitchFamily="18" charset="0"/>
              </a:rPr>
              <a:t>Gesture Detection</a:t>
            </a:r>
            <a:r>
              <a:rPr lang="en-US" sz="2200" b="1" dirty="0">
                <a:latin typeface="Times New Roman" panose="02020603050405020304" pitchFamily="18" charset="0"/>
                <a:cs typeface="Times New Roman" panose="02020603050405020304" pitchFamily="18" charset="0"/>
              </a:rPr>
              <a:t>:</a:t>
            </a:r>
            <a:r>
              <a:rPr lang="en-US" sz="2200" dirty="0" err="1">
                <a:latin typeface="Times New Roman" panose="02020603050405020304" pitchFamily="18" charset="0"/>
                <a:cs typeface="Times New Roman" panose="02020603050405020304" pitchFamily="18" charset="0"/>
              </a:rPr>
              <a:t>MediaPipe</a:t>
            </a:r>
            <a:r>
              <a:rPr lang="en-US" sz="2200" dirty="0">
                <a:latin typeface="Times New Roman" panose="02020603050405020304" pitchFamily="18" charset="0"/>
                <a:cs typeface="Times New Roman" panose="02020603050405020304" pitchFamily="18" charset="0"/>
              </a:rPr>
              <a:t> is used to detect hand marks and identify gestures based on finger count and hand positions. Each gesture is mapped to a specific drone command.</a:t>
            </a:r>
          </a:p>
          <a:p>
            <a:pPr algn="just">
              <a:buNone/>
            </a:pPr>
            <a:r>
              <a:rPr lang="en-IN" sz="2200" b="1" dirty="0">
                <a:latin typeface="Times New Roman" panose="02020603050405020304" pitchFamily="18" charset="0"/>
                <a:cs typeface="Times New Roman" panose="02020603050405020304" pitchFamily="18" charset="0"/>
              </a:rPr>
              <a:t>Face Detection and Tracking</a:t>
            </a:r>
            <a:r>
              <a:rPr lang="en-US" sz="2200" b="1" dirty="0">
                <a:latin typeface="Times New Roman" panose="02020603050405020304" pitchFamily="18" charset="0"/>
                <a:cs typeface="Times New Roman" panose="02020603050405020304" pitchFamily="18" charset="0"/>
              </a:rPr>
              <a:t>:</a:t>
            </a:r>
            <a:r>
              <a:rPr lang="en-US" sz="2200" dirty="0">
                <a:latin typeface="Times New Roman" panose="02020603050405020304" pitchFamily="18" charset="0"/>
                <a:cs typeface="Times New Roman" panose="02020603050405020304" pitchFamily="18" charset="0"/>
              </a:rPr>
              <a:t>The system detects the user’s face and tracks its position in real time. This enables the drone to follow the user automatically.</a:t>
            </a:r>
          </a:p>
          <a:p>
            <a:pPr algn="just">
              <a:buNone/>
            </a:pPr>
            <a:r>
              <a:rPr lang="en-IN" sz="2200" b="1" dirty="0">
                <a:latin typeface="Times New Roman" panose="02020603050405020304" pitchFamily="18" charset="0"/>
                <a:cs typeface="Times New Roman" panose="02020603050405020304" pitchFamily="18" charset="0"/>
              </a:rPr>
              <a:t>Command Generation</a:t>
            </a:r>
            <a:r>
              <a:rPr lang="en-US" sz="2200" b="1" dirty="0">
                <a:latin typeface="Times New Roman" panose="02020603050405020304" pitchFamily="18" charset="0"/>
                <a:cs typeface="Times New Roman" panose="02020603050405020304" pitchFamily="18" charset="0"/>
              </a:rPr>
              <a:t>:</a:t>
            </a:r>
            <a:r>
              <a:rPr lang="en-US" sz="2200" dirty="0">
                <a:latin typeface="Times New Roman" panose="02020603050405020304" pitchFamily="18" charset="0"/>
                <a:cs typeface="Times New Roman" panose="02020603050405020304" pitchFamily="18" charset="0"/>
              </a:rPr>
              <a:t>Based on detected gestures and face position, corresponding control commands such as takeoff, landing, and movement are generated.</a:t>
            </a:r>
          </a:p>
          <a:p>
            <a:pPr algn="just">
              <a:buNone/>
            </a:pPr>
            <a:r>
              <a:rPr lang="en-IN" sz="2200" b="1" dirty="0">
                <a:latin typeface="Times New Roman" panose="02020603050405020304" pitchFamily="18" charset="0"/>
                <a:cs typeface="Times New Roman" panose="02020603050405020304" pitchFamily="18" charset="0"/>
              </a:rPr>
              <a:t>Communication:</a:t>
            </a:r>
            <a:r>
              <a:rPr lang="en-US" sz="2200" dirty="0">
                <a:latin typeface="Times New Roman" panose="02020603050405020304" pitchFamily="18" charset="0"/>
                <a:cs typeface="Times New Roman" panose="02020603050405020304" pitchFamily="18" charset="0"/>
              </a:rPr>
              <a:t>The generated commands are sent to the drone using MAVSDK, which communicates through the </a:t>
            </a:r>
            <a:r>
              <a:rPr lang="en-US" sz="2200" dirty="0" err="1">
                <a:latin typeface="Times New Roman" panose="02020603050405020304" pitchFamily="18" charset="0"/>
                <a:cs typeface="Times New Roman" panose="02020603050405020304" pitchFamily="18" charset="0"/>
              </a:rPr>
              <a:t>MAVLink</a:t>
            </a:r>
            <a:r>
              <a:rPr lang="en-US" sz="2200" dirty="0">
                <a:latin typeface="Times New Roman" panose="02020603050405020304" pitchFamily="18" charset="0"/>
                <a:cs typeface="Times New Roman" panose="02020603050405020304" pitchFamily="18" charset="0"/>
              </a:rPr>
              <a:t> protocol.</a:t>
            </a:r>
          </a:p>
          <a:p>
            <a:pPr algn="just">
              <a:buNone/>
            </a:pPr>
            <a:r>
              <a:rPr lang="en-IN" sz="2200" b="1" dirty="0">
                <a:latin typeface="Times New Roman" panose="02020603050405020304" pitchFamily="18" charset="0"/>
                <a:cs typeface="Times New Roman" panose="02020603050405020304" pitchFamily="18" charset="0"/>
              </a:rPr>
              <a:t>Drone Execution:</a:t>
            </a:r>
            <a:r>
              <a:rPr lang="en-US" sz="2200" dirty="0">
                <a:latin typeface="Times New Roman" panose="02020603050405020304" pitchFamily="18" charset="0"/>
                <a:cs typeface="Times New Roman" panose="02020603050405020304" pitchFamily="18" charset="0"/>
              </a:rPr>
              <a:t>The PX4 autopilot receives the commands and executes them in the Gazebo simulation environment, controlling the drone’s movement.</a:t>
            </a:r>
          </a:p>
          <a:p>
            <a:pPr algn="just">
              <a:buNone/>
            </a:pPr>
            <a:r>
              <a:rPr lang="en-IN" sz="2200" b="1" dirty="0">
                <a:latin typeface="Times New Roman" panose="02020603050405020304" pitchFamily="18" charset="0"/>
                <a:cs typeface="Times New Roman" panose="02020603050405020304" pitchFamily="18" charset="0"/>
              </a:rPr>
              <a:t>Continuous Loop:</a:t>
            </a:r>
            <a:r>
              <a:rPr lang="en-US" sz="2200" dirty="0">
                <a:latin typeface="Times New Roman" panose="02020603050405020304" pitchFamily="18" charset="0"/>
                <a:cs typeface="Times New Roman" panose="02020603050405020304" pitchFamily="18" charset="0"/>
              </a:rPr>
              <a:t>The system continuously processes input and updates commands in real time to ensure smooth and responsive drone operation.</a:t>
            </a:r>
            <a:endParaRPr lang="en-US" sz="2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09172112"/>
      </p:ext>
    </p:extLst>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4A125-3C03-4B70-4222-C7C37502A22E}"/>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8B4BBFF1-CA5B-4A6C-F43C-B0FB8F08F03D}"/>
              </a:ext>
            </a:extLst>
          </p:cNvPr>
          <p:cNvPicPr>
            <a:picLocks noChangeAspect="1"/>
          </p:cNvPicPr>
          <p:nvPr/>
        </p:nvPicPr>
        <p:blipFill>
          <a:blip r:embed="rId2"/>
          <a:stretch>
            <a:fillRect/>
          </a:stretch>
        </p:blipFill>
        <p:spPr>
          <a:xfrm>
            <a:off x="11191875" y="0"/>
            <a:ext cx="1000125" cy="1076325"/>
          </a:xfrm>
          <a:prstGeom prst="rect">
            <a:avLst/>
          </a:prstGeom>
        </p:spPr>
      </p:pic>
      <p:sp>
        <p:nvSpPr>
          <p:cNvPr id="4" name="Date Placeholder 3">
            <a:extLst>
              <a:ext uri="{FF2B5EF4-FFF2-40B4-BE49-F238E27FC236}">
                <a16:creationId xmlns:a16="http://schemas.microsoft.com/office/drawing/2014/main" id="{A5AE85F8-D586-B9A3-DD68-C458518F7AD8}"/>
              </a:ext>
            </a:extLst>
          </p:cNvPr>
          <p:cNvSpPr>
            <a:spLocks noGrp="1"/>
          </p:cNvSpPr>
          <p:nvPr>
            <p:ph type="dt" sz="half" idx="10"/>
          </p:nvPr>
        </p:nvSpPr>
        <p:spPr/>
        <p:txBody>
          <a:bodyPr/>
          <a:lstStyle/>
          <a:p>
            <a:r>
              <a:rPr lang="en-US" dirty="0"/>
              <a:t>AI &amp; DS</a:t>
            </a:r>
            <a:endParaRPr lang="en-IN" dirty="0"/>
          </a:p>
        </p:txBody>
      </p:sp>
      <p:sp>
        <p:nvSpPr>
          <p:cNvPr id="6" name="Slide Number Placeholder 5">
            <a:extLst>
              <a:ext uri="{FF2B5EF4-FFF2-40B4-BE49-F238E27FC236}">
                <a16:creationId xmlns:a16="http://schemas.microsoft.com/office/drawing/2014/main" id="{7FD8C217-24D1-171E-4CA3-3204CE45F28A}"/>
              </a:ext>
            </a:extLst>
          </p:cNvPr>
          <p:cNvSpPr>
            <a:spLocks noGrp="1"/>
          </p:cNvSpPr>
          <p:nvPr>
            <p:ph type="sldNum" sz="quarter" idx="12"/>
          </p:nvPr>
        </p:nvSpPr>
        <p:spPr/>
        <p:txBody>
          <a:bodyPr/>
          <a:lstStyle/>
          <a:p>
            <a:r>
              <a:rPr lang="en-IN" dirty="0"/>
              <a:t>2026-27</a:t>
            </a:r>
          </a:p>
        </p:txBody>
      </p:sp>
      <p:sp>
        <p:nvSpPr>
          <p:cNvPr id="5" name="Footer Placeholder 4">
            <a:extLst>
              <a:ext uri="{FF2B5EF4-FFF2-40B4-BE49-F238E27FC236}">
                <a16:creationId xmlns:a16="http://schemas.microsoft.com/office/drawing/2014/main" id="{20FDB0D2-DBB7-CA8C-FFC6-C67D9991103B}"/>
              </a:ext>
            </a:extLst>
          </p:cNvPr>
          <p:cNvSpPr>
            <a:spLocks noGrp="1"/>
          </p:cNvSpPr>
          <p:nvPr>
            <p:ph type="ftr" sz="quarter" idx="11"/>
          </p:nvPr>
        </p:nvSpPr>
        <p:spPr/>
        <p:txBody>
          <a:bodyPr/>
          <a:lstStyle/>
          <a:p>
            <a:r>
              <a:rPr lang="en-US" dirty="0"/>
              <a:t>8</a:t>
            </a:r>
            <a:endParaRPr lang="en-IN" dirty="0"/>
          </a:p>
        </p:txBody>
      </p:sp>
      <p:sp>
        <p:nvSpPr>
          <p:cNvPr id="2" name="Title 1">
            <a:extLst>
              <a:ext uri="{FF2B5EF4-FFF2-40B4-BE49-F238E27FC236}">
                <a16:creationId xmlns:a16="http://schemas.microsoft.com/office/drawing/2014/main" id="{81BC4B08-61A6-EA51-BF84-01048A024647}"/>
              </a:ext>
            </a:extLst>
          </p:cNvPr>
          <p:cNvSpPr>
            <a:spLocks noGrp="1"/>
          </p:cNvSpPr>
          <p:nvPr>
            <p:ph type="title"/>
          </p:nvPr>
        </p:nvSpPr>
        <p:spPr>
          <a:xfrm>
            <a:off x="200637" y="136525"/>
            <a:ext cx="2267224" cy="1010521"/>
          </a:xfrm>
        </p:spPr>
        <p:txBody>
          <a:bodyPr>
            <a:normAutofit/>
          </a:bodyPr>
          <a:lstStyle/>
          <a:p>
            <a:r>
              <a:rPr lang="en-US" sz="4000" b="1" u="sng" dirty="0">
                <a:latin typeface="Times New Roman" panose="02020603050405020304" pitchFamily="18" charset="0"/>
                <a:cs typeface="Times New Roman" panose="02020603050405020304" pitchFamily="18" charset="0"/>
              </a:rPr>
              <a:t>Design:</a:t>
            </a:r>
            <a:endParaRPr lang="en-IN" sz="4000" b="1" u="sng"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DCE3A427-D308-70CC-07DA-91E6302AABF8}"/>
              </a:ext>
            </a:extLst>
          </p:cNvPr>
          <p:cNvSpPr txBox="1"/>
          <p:nvPr/>
        </p:nvSpPr>
        <p:spPr>
          <a:xfrm>
            <a:off x="200637" y="1147046"/>
            <a:ext cx="3154959"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System Architecture:</a:t>
            </a:r>
            <a:endParaRPr lang="en-IN" sz="2400" b="1"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3534ABF3-1E6D-4E24-DD1C-8E3064ADDD1E}"/>
              </a:ext>
            </a:extLst>
          </p:cNvPr>
          <p:cNvPicPr>
            <a:picLocks noChangeAspect="1"/>
          </p:cNvPicPr>
          <p:nvPr/>
        </p:nvPicPr>
        <p:blipFill>
          <a:blip r:embed="rId3"/>
          <a:srcRect r="26185"/>
          <a:stretch>
            <a:fillRect/>
          </a:stretch>
        </p:blipFill>
        <p:spPr>
          <a:xfrm>
            <a:off x="3355596" y="1076325"/>
            <a:ext cx="6355896" cy="5534025"/>
          </a:xfrm>
          <a:prstGeom prst="rect">
            <a:avLst/>
          </a:prstGeom>
        </p:spPr>
      </p:pic>
    </p:spTree>
    <p:extLst>
      <p:ext uri="{BB962C8B-B14F-4D97-AF65-F5344CB8AC3E}">
        <p14:creationId xmlns:p14="http://schemas.microsoft.com/office/powerpoint/2010/main" val="677359303"/>
      </p:ext>
    </p:extLst>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155828-99BD-4260-D000-C2AB410D3627}"/>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3DF5037E-C913-CAEB-913A-5D41A0AB65CC}"/>
              </a:ext>
            </a:extLst>
          </p:cNvPr>
          <p:cNvSpPr>
            <a:spLocks noGrp="1"/>
          </p:cNvSpPr>
          <p:nvPr>
            <p:ph type="dt" sz="half" idx="10"/>
          </p:nvPr>
        </p:nvSpPr>
        <p:spPr>
          <a:xfrm>
            <a:off x="578840" y="6356349"/>
            <a:ext cx="2743200" cy="365125"/>
          </a:xfrm>
        </p:spPr>
        <p:txBody>
          <a:bodyPr/>
          <a:lstStyle/>
          <a:p>
            <a:r>
              <a:rPr lang="en-US" dirty="0"/>
              <a:t>AI &amp; DS</a:t>
            </a:r>
            <a:endParaRPr lang="en-IN" dirty="0"/>
          </a:p>
        </p:txBody>
      </p:sp>
      <p:sp>
        <p:nvSpPr>
          <p:cNvPr id="6" name="Slide Number Placeholder 5">
            <a:extLst>
              <a:ext uri="{FF2B5EF4-FFF2-40B4-BE49-F238E27FC236}">
                <a16:creationId xmlns:a16="http://schemas.microsoft.com/office/drawing/2014/main" id="{CD44F4C8-1597-D03D-110C-CE385EAB5BB2}"/>
              </a:ext>
            </a:extLst>
          </p:cNvPr>
          <p:cNvSpPr>
            <a:spLocks noGrp="1"/>
          </p:cNvSpPr>
          <p:nvPr>
            <p:ph type="sldNum" sz="quarter" idx="12"/>
          </p:nvPr>
        </p:nvSpPr>
        <p:spPr/>
        <p:txBody>
          <a:bodyPr/>
          <a:lstStyle/>
          <a:p>
            <a:r>
              <a:rPr lang="en-IN" dirty="0"/>
              <a:t>2026-27</a:t>
            </a:r>
          </a:p>
        </p:txBody>
      </p:sp>
      <p:sp>
        <p:nvSpPr>
          <p:cNvPr id="5" name="Footer Placeholder 4">
            <a:extLst>
              <a:ext uri="{FF2B5EF4-FFF2-40B4-BE49-F238E27FC236}">
                <a16:creationId xmlns:a16="http://schemas.microsoft.com/office/drawing/2014/main" id="{95A09745-176E-3829-0E9C-B8408F353E14}"/>
              </a:ext>
            </a:extLst>
          </p:cNvPr>
          <p:cNvSpPr>
            <a:spLocks noGrp="1"/>
          </p:cNvSpPr>
          <p:nvPr>
            <p:ph type="ftr" sz="quarter" idx="11"/>
          </p:nvPr>
        </p:nvSpPr>
        <p:spPr/>
        <p:txBody>
          <a:bodyPr/>
          <a:lstStyle/>
          <a:p>
            <a:r>
              <a:rPr lang="en-US" dirty="0"/>
              <a:t>9</a:t>
            </a:r>
            <a:endParaRPr lang="en-IN" dirty="0"/>
          </a:p>
        </p:txBody>
      </p:sp>
      <p:pic>
        <p:nvPicPr>
          <p:cNvPr id="7" name="Picture 6">
            <a:extLst>
              <a:ext uri="{FF2B5EF4-FFF2-40B4-BE49-F238E27FC236}">
                <a16:creationId xmlns:a16="http://schemas.microsoft.com/office/drawing/2014/main" id="{5239FAA9-E4E6-59A6-E323-6389AF09F363}"/>
              </a:ext>
            </a:extLst>
          </p:cNvPr>
          <p:cNvPicPr>
            <a:picLocks noChangeAspect="1"/>
          </p:cNvPicPr>
          <p:nvPr/>
        </p:nvPicPr>
        <p:blipFill>
          <a:blip r:embed="rId2"/>
          <a:stretch>
            <a:fillRect/>
          </a:stretch>
        </p:blipFill>
        <p:spPr>
          <a:xfrm>
            <a:off x="11113097" y="-2264"/>
            <a:ext cx="1000125" cy="1076325"/>
          </a:xfrm>
          <a:prstGeom prst="rect">
            <a:avLst/>
          </a:prstGeom>
        </p:spPr>
      </p:pic>
      <p:sp>
        <p:nvSpPr>
          <p:cNvPr id="2" name="TextBox 1">
            <a:extLst>
              <a:ext uri="{FF2B5EF4-FFF2-40B4-BE49-F238E27FC236}">
                <a16:creationId xmlns:a16="http://schemas.microsoft.com/office/drawing/2014/main" id="{77F97741-4CF5-6BDB-2490-5019C6E11532}"/>
              </a:ext>
            </a:extLst>
          </p:cNvPr>
          <p:cNvSpPr txBox="1"/>
          <p:nvPr/>
        </p:nvSpPr>
        <p:spPr>
          <a:xfrm>
            <a:off x="1654043" y="305065"/>
            <a:ext cx="3179428"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Data Flow:</a:t>
            </a:r>
            <a:endParaRPr lang="en-IN" sz="2800"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C513E3DF-B987-5F57-0854-9E4F61940341}"/>
              </a:ext>
            </a:extLst>
          </p:cNvPr>
          <p:cNvSpPr txBox="1"/>
          <p:nvPr/>
        </p:nvSpPr>
        <p:spPr>
          <a:xfrm>
            <a:off x="6869234" y="305065"/>
            <a:ext cx="2568332" cy="523220"/>
          </a:xfrm>
          <a:prstGeom prst="rect">
            <a:avLst/>
          </a:prstGeom>
          <a:noFill/>
        </p:spPr>
        <p:txBody>
          <a:bodyPr wrap="none" rtlCol="0">
            <a:spAutoFit/>
          </a:bodyPr>
          <a:lstStyle/>
          <a:p>
            <a:r>
              <a:rPr lang="en-US" sz="2800" b="1" dirty="0">
                <a:latin typeface="Times New Roman" panose="02020603050405020304" pitchFamily="18" charset="0"/>
                <a:cs typeface="Times New Roman" panose="02020603050405020304" pitchFamily="18" charset="0"/>
              </a:rPr>
              <a:t>Class Diagram:</a:t>
            </a:r>
            <a:endParaRPr lang="en-IN" sz="28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7D754F9C-6149-9A9F-AC3F-EE1B6F310B70}"/>
              </a:ext>
            </a:extLst>
          </p:cNvPr>
          <p:cNvSpPr txBox="1"/>
          <p:nvPr/>
        </p:nvSpPr>
        <p:spPr>
          <a:xfrm>
            <a:off x="1235039" y="1524000"/>
            <a:ext cx="3443571" cy="4493538"/>
          </a:xfrm>
          <a:prstGeom prst="rect">
            <a:avLst/>
          </a:prstGeom>
          <a:noFill/>
        </p:spPr>
        <p:txBody>
          <a:bodyPr wrap="none" rtlCol="0">
            <a:spAutoFit/>
          </a:bodyPr>
          <a:lstStyle/>
          <a:p>
            <a:r>
              <a:rPr lang="en-IN" sz="2200" dirty="0">
                <a:latin typeface="Times New Roman" panose="02020603050405020304" pitchFamily="18" charset="0"/>
                <a:cs typeface="Times New Roman" panose="02020603050405020304" pitchFamily="18" charset="0"/>
              </a:rPr>
              <a:t>Input (Gesture/Face)</a:t>
            </a:r>
          </a:p>
          <a:p>
            <a:r>
              <a:rPr lang="en-IN" sz="2200" dirty="0">
                <a:latin typeface="Times New Roman" panose="02020603050405020304" pitchFamily="18" charset="0"/>
                <a:cs typeface="Times New Roman" panose="02020603050405020304" pitchFamily="18" charset="0"/>
              </a:rPr>
              <a:t>        ↓</a:t>
            </a:r>
          </a:p>
          <a:p>
            <a:r>
              <a:rPr lang="en-IN" sz="2200" dirty="0">
                <a:latin typeface="Times New Roman" panose="02020603050405020304" pitchFamily="18" charset="0"/>
                <a:cs typeface="Times New Roman" panose="02020603050405020304" pitchFamily="18" charset="0"/>
              </a:rPr>
              <a:t>Image Processing (OpenCV)</a:t>
            </a:r>
          </a:p>
          <a:p>
            <a:r>
              <a:rPr lang="en-IN" sz="2200" dirty="0">
                <a:latin typeface="Times New Roman" panose="02020603050405020304" pitchFamily="18" charset="0"/>
                <a:cs typeface="Times New Roman" panose="02020603050405020304" pitchFamily="18" charset="0"/>
              </a:rPr>
              <a:t>        ↓</a:t>
            </a:r>
          </a:p>
          <a:p>
            <a:r>
              <a:rPr lang="en-IN" sz="2200" dirty="0">
                <a:latin typeface="Times New Roman" panose="02020603050405020304" pitchFamily="18" charset="0"/>
                <a:cs typeface="Times New Roman" panose="02020603050405020304" pitchFamily="18" charset="0"/>
              </a:rPr>
              <a:t>Detection (</a:t>
            </a:r>
            <a:r>
              <a:rPr lang="en-IN" sz="2200" dirty="0" err="1">
                <a:latin typeface="Times New Roman" panose="02020603050405020304" pitchFamily="18" charset="0"/>
                <a:cs typeface="Times New Roman" panose="02020603050405020304" pitchFamily="18" charset="0"/>
              </a:rPr>
              <a:t>MediaPipe</a:t>
            </a:r>
            <a:r>
              <a:rPr lang="en-IN" sz="2200" dirty="0">
                <a:latin typeface="Times New Roman" panose="02020603050405020304" pitchFamily="18" charset="0"/>
                <a:cs typeface="Times New Roman" panose="02020603050405020304" pitchFamily="18" charset="0"/>
              </a:rPr>
              <a:t>)</a:t>
            </a:r>
          </a:p>
          <a:p>
            <a:r>
              <a:rPr lang="en-IN" sz="2200" dirty="0">
                <a:latin typeface="Times New Roman" panose="02020603050405020304" pitchFamily="18" charset="0"/>
                <a:cs typeface="Times New Roman" panose="02020603050405020304" pitchFamily="18" charset="0"/>
              </a:rPr>
              <a:t>        ↓</a:t>
            </a:r>
          </a:p>
          <a:p>
            <a:r>
              <a:rPr lang="en-IN" sz="2200" dirty="0">
                <a:latin typeface="Times New Roman" panose="02020603050405020304" pitchFamily="18" charset="0"/>
                <a:cs typeface="Times New Roman" panose="02020603050405020304" pitchFamily="18" charset="0"/>
              </a:rPr>
              <a:t>Command Mapping</a:t>
            </a:r>
          </a:p>
          <a:p>
            <a:r>
              <a:rPr lang="en-IN" sz="2200" dirty="0">
                <a:latin typeface="Times New Roman" panose="02020603050405020304" pitchFamily="18" charset="0"/>
                <a:cs typeface="Times New Roman" panose="02020603050405020304" pitchFamily="18" charset="0"/>
              </a:rPr>
              <a:t>        ↓</a:t>
            </a:r>
          </a:p>
          <a:p>
            <a:r>
              <a:rPr lang="en-IN" sz="2200" dirty="0">
                <a:latin typeface="Times New Roman" panose="02020603050405020304" pitchFamily="18" charset="0"/>
                <a:cs typeface="Times New Roman" panose="02020603050405020304" pitchFamily="18" charset="0"/>
              </a:rPr>
              <a:t>MAVSDK Communication</a:t>
            </a:r>
          </a:p>
          <a:p>
            <a:r>
              <a:rPr lang="en-IN" sz="2200" dirty="0">
                <a:latin typeface="Times New Roman" panose="02020603050405020304" pitchFamily="18" charset="0"/>
                <a:cs typeface="Times New Roman" panose="02020603050405020304" pitchFamily="18" charset="0"/>
              </a:rPr>
              <a:t>        ↓</a:t>
            </a:r>
          </a:p>
          <a:p>
            <a:r>
              <a:rPr lang="en-IN" sz="2200" dirty="0">
                <a:latin typeface="Times New Roman" panose="02020603050405020304" pitchFamily="18" charset="0"/>
                <a:cs typeface="Times New Roman" panose="02020603050405020304" pitchFamily="18" charset="0"/>
              </a:rPr>
              <a:t>PX4 Processing</a:t>
            </a:r>
          </a:p>
          <a:p>
            <a:r>
              <a:rPr lang="en-IN" sz="2200" dirty="0">
                <a:latin typeface="Times New Roman" panose="02020603050405020304" pitchFamily="18" charset="0"/>
                <a:cs typeface="Times New Roman" panose="02020603050405020304" pitchFamily="18" charset="0"/>
              </a:rPr>
              <a:t>        ↓</a:t>
            </a:r>
          </a:p>
          <a:p>
            <a:r>
              <a:rPr lang="en-IN" sz="2200" dirty="0">
                <a:latin typeface="Times New Roman" panose="02020603050405020304" pitchFamily="18" charset="0"/>
                <a:cs typeface="Times New Roman" panose="02020603050405020304" pitchFamily="18" charset="0"/>
              </a:rPr>
              <a:t>Drone Output (Movement)</a:t>
            </a:r>
          </a:p>
        </p:txBody>
      </p:sp>
      <p:pic>
        <p:nvPicPr>
          <p:cNvPr id="12" name="Picture 11">
            <a:extLst>
              <a:ext uri="{FF2B5EF4-FFF2-40B4-BE49-F238E27FC236}">
                <a16:creationId xmlns:a16="http://schemas.microsoft.com/office/drawing/2014/main" id="{253C29D2-F003-02BC-DCC2-EF734F434773}"/>
              </a:ext>
            </a:extLst>
          </p:cNvPr>
          <p:cNvPicPr>
            <a:picLocks noChangeAspect="1"/>
          </p:cNvPicPr>
          <p:nvPr/>
        </p:nvPicPr>
        <p:blipFill>
          <a:blip r:embed="rId3">
            <a:extLst>
              <a:ext uri="{28A0092B-C50C-407E-A947-70E740481C1C}">
                <a14:useLocalDpi xmlns:a14="http://schemas.microsoft.com/office/drawing/2010/main" val="0"/>
              </a:ext>
            </a:extLst>
          </a:blip>
          <a:srcRect l="51971" t="47368" b="3168"/>
          <a:stretch>
            <a:fillRect/>
          </a:stretch>
        </p:blipFill>
        <p:spPr>
          <a:xfrm>
            <a:off x="6759724" y="1282195"/>
            <a:ext cx="2677842" cy="4620245"/>
          </a:xfrm>
          <a:prstGeom prst="rect">
            <a:avLst/>
          </a:prstGeom>
        </p:spPr>
      </p:pic>
      <p:pic>
        <p:nvPicPr>
          <p:cNvPr id="14" name="Picture 13">
            <a:extLst>
              <a:ext uri="{FF2B5EF4-FFF2-40B4-BE49-F238E27FC236}">
                <a16:creationId xmlns:a16="http://schemas.microsoft.com/office/drawing/2014/main" id="{D038FC17-2D0E-F65D-30AB-4B33094A8940}"/>
              </a:ext>
            </a:extLst>
          </p:cNvPr>
          <p:cNvPicPr>
            <a:picLocks noChangeAspect="1"/>
          </p:cNvPicPr>
          <p:nvPr/>
        </p:nvPicPr>
        <p:blipFill>
          <a:blip r:embed="rId4"/>
          <a:stretch>
            <a:fillRect/>
          </a:stretch>
        </p:blipFill>
        <p:spPr>
          <a:xfrm>
            <a:off x="5150971" y="2487709"/>
            <a:ext cx="2133898" cy="3162741"/>
          </a:xfrm>
          <a:prstGeom prst="rect">
            <a:avLst/>
          </a:prstGeom>
        </p:spPr>
      </p:pic>
      <p:pic>
        <p:nvPicPr>
          <p:cNvPr id="15" name="Picture 14">
            <a:extLst>
              <a:ext uri="{FF2B5EF4-FFF2-40B4-BE49-F238E27FC236}">
                <a16:creationId xmlns:a16="http://schemas.microsoft.com/office/drawing/2014/main" id="{6EDFA9A3-B767-376C-A8F5-442C6F321DD8}"/>
              </a:ext>
            </a:extLst>
          </p:cNvPr>
          <p:cNvPicPr>
            <a:picLocks noChangeAspect="1"/>
          </p:cNvPicPr>
          <p:nvPr/>
        </p:nvPicPr>
        <p:blipFill>
          <a:blip r:embed="rId4"/>
          <a:stretch>
            <a:fillRect/>
          </a:stretch>
        </p:blipFill>
        <p:spPr>
          <a:xfrm>
            <a:off x="6759724" y="5444755"/>
            <a:ext cx="2338705" cy="3162742"/>
          </a:xfrm>
          <a:prstGeom prst="rect">
            <a:avLst/>
          </a:prstGeom>
        </p:spPr>
      </p:pic>
    </p:spTree>
    <p:extLst>
      <p:ext uri="{BB962C8B-B14F-4D97-AF65-F5344CB8AC3E}">
        <p14:creationId xmlns:p14="http://schemas.microsoft.com/office/powerpoint/2010/main" val="593130412"/>
      </p:ext>
    </p:extLst>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C154EB-2760-97CF-9BAF-910F8C8A11AA}"/>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2AC4C324-3068-3A62-940F-FD6B71E7942B}"/>
              </a:ext>
            </a:extLst>
          </p:cNvPr>
          <p:cNvPicPr>
            <a:picLocks noChangeAspect="1"/>
          </p:cNvPicPr>
          <p:nvPr/>
        </p:nvPicPr>
        <p:blipFill>
          <a:blip r:embed="rId2"/>
          <a:stretch>
            <a:fillRect/>
          </a:stretch>
        </p:blipFill>
        <p:spPr>
          <a:xfrm>
            <a:off x="11191875" y="0"/>
            <a:ext cx="1000125" cy="1076325"/>
          </a:xfrm>
          <a:prstGeom prst="rect">
            <a:avLst/>
          </a:prstGeom>
        </p:spPr>
      </p:pic>
      <p:sp>
        <p:nvSpPr>
          <p:cNvPr id="4" name="Date Placeholder 3">
            <a:extLst>
              <a:ext uri="{FF2B5EF4-FFF2-40B4-BE49-F238E27FC236}">
                <a16:creationId xmlns:a16="http://schemas.microsoft.com/office/drawing/2014/main" id="{D987590D-BFD2-1C0B-B3E3-AA05F19E9776}"/>
              </a:ext>
            </a:extLst>
          </p:cNvPr>
          <p:cNvSpPr>
            <a:spLocks noGrp="1"/>
          </p:cNvSpPr>
          <p:nvPr>
            <p:ph type="dt" sz="half" idx="10"/>
          </p:nvPr>
        </p:nvSpPr>
        <p:spPr/>
        <p:txBody>
          <a:bodyPr/>
          <a:lstStyle/>
          <a:p>
            <a:r>
              <a:rPr lang="en-US" dirty="0"/>
              <a:t>AI &amp; DS</a:t>
            </a:r>
            <a:endParaRPr lang="en-IN" dirty="0"/>
          </a:p>
        </p:txBody>
      </p:sp>
      <p:sp>
        <p:nvSpPr>
          <p:cNvPr id="6" name="Slide Number Placeholder 5">
            <a:extLst>
              <a:ext uri="{FF2B5EF4-FFF2-40B4-BE49-F238E27FC236}">
                <a16:creationId xmlns:a16="http://schemas.microsoft.com/office/drawing/2014/main" id="{1B42F524-86B7-10FC-B2FB-1378653113A9}"/>
              </a:ext>
            </a:extLst>
          </p:cNvPr>
          <p:cNvSpPr>
            <a:spLocks noGrp="1"/>
          </p:cNvSpPr>
          <p:nvPr>
            <p:ph type="sldNum" sz="quarter" idx="12"/>
          </p:nvPr>
        </p:nvSpPr>
        <p:spPr/>
        <p:txBody>
          <a:bodyPr/>
          <a:lstStyle/>
          <a:p>
            <a:r>
              <a:rPr lang="en-IN" dirty="0"/>
              <a:t>2026-27</a:t>
            </a:r>
          </a:p>
        </p:txBody>
      </p:sp>
      <p:sp>
        <p:nvSpPr>
          <p:cNvPr id="5" name="Footer Placeholder 4">
            <a:extLst>
              <a:ext uri="{FF2B5EF4-FFF2-40B4-BE49-F238E27FC236}">
                <a16:creationId xmlns:a16="http://schemas.microsoft.com/office/drawing/2014/main" id="{14B20CE6-0D24-BCF0-B2CB-07037109D79E}"/>
              </a:ext>
            </a:extLst>
          </p:cNvPr>
          <p:cNvSpPr>
            <a:spLocks noGrp="1"/>
          </p:cNvSpPr>
          <p:nvPr>
            <p:ph type="ftr" sz="quarter" idx="11"/>
          </p:nvPr>
        </p:nvSpPr>
        <p:spPr/>
        <p:txBody>
          <a:bodyPr/>
          <a:lstStyle/>
          <a:p>
            <a:r>
              <a:rPr lang="en-US" dirty="0"/>
              <a:t>7</a:t>
            </a:r>
            <a:endParaRPr lang="en-IN" dirty="0"/>
          </a:p>
        </p:txBody>
      </p:sp>
      <p:sp>
        <p:nvSpPr>
          <p:cNvPr id="3" name="TextBox 2">
            <a:extLst>
              <a:ext uri="{FF2B5EF4-FFF2-40B4-BE49-F238E27FC236}">
                <a16:creationId xmlns:a16="http://schemas.microsoft.com/office/drawing/2014/main" id="{51746842-D271-84BC-A58E-266B9ABC5A59}"/>
              </a:ext>
            </a:extLst>
          </p:cNvPr>
          <p:cNvSpPr txBox="1"/>
          <p:nvPr/>
        </p:nvSpPr>
        <p:spPr>
          <a:xfrm>
            <a:off x="335560" y="0"/>
            <a:ext cx="11719419" cy="823752"/>
          </a:xfrm>
          <a:prstGeom prst="rect">
            <a:avLst/>
          </a:prstGeom>
          <a:noFill/>
        </p:spPr>
        <p:txBody>
          <a:bodyPr wrap="square">
            <a:spAutoFit/>
          </a:bodyPr>
          <a:lstStyle/>
          <a:p>
            <a:pPr algn="ctr">
              <a:lnSpc>
                <a:spcPct val="150000"/>
              </a:lnSpc>
              <a:buNone/>
            </a:pPr>
            <a:r>
              <a:rPr lang="en-US" sz="3600" b="1" dirty="0">
                <a:latin typeface="Times New Roman" panose="02020603050405020304" pitchFamily="18" charset="0"/>
                <a:cs typeface="Times New Roman" panose="02020603050405020304" pitchFamily="18" charset="0"/>
              </a:rPr>
              <a:t>Proposed Outcomes</a:t>
            </a:r>
          </a:p>
        </p:txBody>
      </p:sp>
      <p:sp>
        <p:nvSpPr>
          <p:cNvPr id="9" name="Rectangle 1">
            <a:extLst>
              <a:ext uri="{FF2B5EF4-FFF2-40B4-BE49-F238E27FC236}">
                <a16:creationId xmlns:a16="http://schemas.microsoft.com/office/drawing/2014/main" id="{36ECA52F-592E-7EE9-A911-8EEA32F43C6C}"/>
              </a:ext>
            </a:extLst>
          </p:cNvPr>
          <p:cNvSpPr>
            <a:spLocks noChangeArrowheads="1"/>
          </p:cNvSpPr>
          <p:nvPr/>
        </p:nvSpPr>
        <p:spPr bwMode="auto">
          <a:xfrm>
            <a:off x="838200" y="1076325"/>
            <a:ext cx="1324356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Gesture-based drone control without remote</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Face detection and automatic following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Autonomous takeoff, landing, and hover</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response system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Smooth drone navigation</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User-friendly and interactive system </a:t>
            </a:r>
          </a:p>
        </p:txBody>
      </p:sp>
    </p:spTree>
    <p:extLst>
      <p:ext uri="{BB962C8B-B14F-4D97-AF65-F5344CB8AC3E}">
        <p14:creationId xmlns:p14="http://schemas.microsoft.com/office/powerpoint/2010/main" val="1402423395"/>
      </p:ext>
    </p:extLst>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88177-9B3F-024F-C773-BDB81CC2342D}"/>
              </a:ext>
            </a:extLst>
          </p:cNvPr>
          <p:cNvSpPr>
            <a:spLocks noGrp="1"/>
          </p:cNvSpPr>
          <p:nvPr>
            <p:ph type="title"/>
          </p:nvPr>
        </p:nvSpPr>
        <p:spPr>
          <a:xfrm>
            <a:off x="4149754" y="167313"/>
            <a:ext cx="3892492" cy="1027447"/>
          </a:xfrm>
        </p:spPr>
        <p:txBody>
          <a:bodyPr>
            <a:normAutofit fontScale="90000"/>
          </a:bodyPr>
          <a:lstStyle/>
          <a:p>
            <a:r>
              <a:rPr lang="en-US" sz="4000" b="1" dirty="0">
                <a:latin typeface="Times New Roman" panose="02020603050405020304" pitchFamily="18" charset="0"/>
                <a:cs typeface="Times New Roman" panose="02020603050405020304" pitchFamily="18" charset="0"/>
              </a:rPr>
              <a:t>Project Plan 2.0</a:t>
            </a:r>
            <a:br>
              <a:rPr lang="en-US" b="1" dirty="0"/>
            </a:br>
            <a:endParaRPr lang="en-IN" dirty="0"/>
          </a:p>
        </p:txBody>
      </p:sp>
      <p:sp>
        <p:nvSpPr>
          <p:cNvPr id="6" name="Content Placeholder 5">
            <a:extLst>
              <a:ext uri="{FF2B5EF4-FFF2-40B4-BE49-F238E27FC236}">
                <a16:creationId xmlns:a16="http://schemas.microsoft.com/office/drawing/2014/main" id="{2C0C70E0-1A67-102A-0497-F2B9583E289A}"/>
              </a:ext>
            </a:extLst>
          </p:cNvPr>
          <p:cNvSpPr>
            <a:spLocks noGrp="1"/>
          </p:cNvSpPr>
          <p:nvPr>
            <p:ph idx="1"/>
          </p:nvPr>
        </p:nvSpPr>
        <p:spPr>
          <a:xfrm>
            <a:off x="685800" y="789305"/>
            <a:ext cx="5410200" cy="5901382"/>
          </a:xfrm>
        </p:spPr>
        <p:txBody>
          <a:bodyPr>
            <a:normAutofit/>
          </a:bodyPr>
          <a:lstStyle/>
          <a:p>
            <a:pPr marL="0" indent="0">
              <a:lnSpc>
                <a:spcPct val="100000"/>
              </a:lnSpc>
              <a:buNone/>
            </a:pPr>
            <a:r>
              <a:rPr lang="en-IN" sz="2400" b="1" dirty="0">
                <a:latin typeface="Times New Roman" panose="02020603050405020304" pitchFamily="18" charset="0"/>
                <a:cs typeface="Times New Roman" panose="02020603050405020304" pitchFamily="18" charset="0"/>
              </a:rPr>
              <a:t>🔹 Phase 1: Setup</a:t>
            </a:r>
          </a:p>
          <a:p>
            <a:pPr marL="0" indent="0">
              <a:lnSpc>
                <a:spcPct val="100000"/>
              </a:lnSpc>
              <a:buNone/>
            </a:pPr>
            <a:r>
              <a:rPr lang="en-IN" sz="2400" dirty="0">
                <a:latin typeface="Times New Roman" panose="02020603050405020304" pitchFamily="18" charset="0"/>
                <a:cs typeface="Times New Roman" panose="02020603050405020304" pitchFamily="18" charset="0"/>
              </a:rPr>
              <a:t>Install PX4, Gazebo, MAVSDK </a:t>
            </a:r>
          </a:p>
          <a:p>
            <a:pPr marL="0" indent="0">
              <a:lnSpc>
                <a:spcPct val="100000"/>
              </a:lnSpc>
              <a:buNone/>
            </a:pPr>
            <a:r>
              <a:rPr lang="en-IN" sz="2400" dirty="0">
                <a:latin typeface="Times New Roman" panose="02020603050405020304" pitchFamily="18" charset="0"/>
                <a:cs typeface="Times New Roman" panose="02020603050405020304" pitchFamily="18" charset="0"/>
              </a:rPr>
              <a:t>Configure environment </a:t>
            </a:r>
          </a:p>
          <a:p>
            <a:pPr marL="0" indent="0">
              <a:lnSpc>
                <a:spcPct val="100000"/>
              </a:lnSpc>
              <a:buNone/>
            </a:pPr>
            <a:endParaRPr lang="en-IN" sz="2400" dirty="0">
              <a:latin typeface="Times New Roman" panose="02020603050405020304" pitchFamily="18" charset="0"/>
              <a:cs typeface="Times New Roman" panose="02020603050405020304" pitchFamily="18" charset="0"/>
            </a:endParaRPr>
          </a:p>
          <a:p>
            <a:pPr marL="0" indent="0">
              <a:lnSpc>
                <a:spcPct val="100000"/>
              </a:lnSpc>
              <a:buNone/>
            </a:pPr>
            <a:r>
              <a:rPr lang="en-IN" sz="2400" b="1" dirty="0">
                <a:latin typeface="Times New Roman" panose="02020603050405020304" pitchFamily="18" charset="0"/>
                <a:cs typeface="Times New Roman" panose="02020603050405020304" pitchFamily="18" charset="0"/>
              </a:rPr>
              <a:t>🔹 Phase 2: Development</a:t>
            </a:r>
          </a:p>
          <a:p>
            <a:pPr marL="0" indent="0">
              <a:lnSpc>
                <a:spcPct val="100000"/>
              </a:lnSpc>
              <a:buNone/>
            </a:pPr>
            <a:r>
              <a:rPr lang="en-IN" sz="2400" dirty="0">
                <a:latin typeface="Times New Roman" panose="02020603050405020304" pitchFamily="18" charset="0"/>
                <a:cs typeface="Times New Roman" panose="02020603050405020304" pitchFamily="18" charset="0"/>
              </a:rPr>
              <a:t>Implement gesture detection </a:t>
            </a:r>
          </a:p>
          <a:p>
            <a:pPr marL="0" indent="0">
              <a:lnSpc>
                <a:spcPct val="100000"/>
              </a:lnSpc>
              <a:buNone/>
            </a:pPr>
            <a:r>
              <a:rPr lang="en-IN" sz="2400" dirty="0">
                <a:latin typeface="Times New Roman" panose="02020603050405020304" pitchFamily="18" charset="0"/>
                <a:cs typeface="Times New Roman" panose="02020603050405020304" pitchFamily="18" charset="0"/>
              </a:rPr>
              <a:t>Implement face detection </a:t>
            </a:r>
          </a:p>
          <a:p>
            <a:pPr marL="0" indent="0">
              <a:lnSpc>
                <a:spcPct val="100000"/>
              </a:lnSpc>
              <a:buNone/>
            </a:pPr>
            <a:endParaRPr lang="en-IN" sz="2400" dirty="0">
              <a:latin typeface="Times New Roman" panose="02020603050405020304" pitchFamily="18" charset="0"/>
              <a:cs typeface="Times New Roman" panose="02020603050405020304" pitchFamily="18" charset="0"/>
            </a:endParaRPr>
          </a:p>
          <a:p>
            <a:pPr marL="0" indent="0">
              <a:lnSpc>
                <a:spcPct val="100000"/>
              </a:lnSpc>
              <a:buNone/>
            </a:pPr>
            <a:r>
              <a:rPr lang="en-IN" sz="2400" b="1" dirty="0">
                <a:latin typeface="Times New Roman" panose="02020603050405020304" pitchFamily="18" charset="0"/>
                <a:cs typeface="Times New Roman" panose="02020603050405020304" pitchFamily="18" charset="0"/>
              </a:rPr>
              <a:t>🔹 Phase 3: Integration</a:t>
            </a:r>
          </a:p>
          <a:p>
            <a:pPr marL="0" indent="0">
              <a:lnSpc>
                <a:spcPct val="100000"/>
              </a:lnSpc>
              <a:buNone/>
            </a:pPr>
            <a:r>
              <a:rPr lang="en-IN" sz="2400" dirty="0">
                <a:latin typeface="Times New Roman" panose="02020603050405020304" pitchFamily="18" charset="0"/>
                <a:cs typeface="Times New Roman" panose="02020603050405020304" pitchFamily="18" charset="0"/>
              </a:rPr>
              <a:t>Connect MAVSDK with PX4 </a:t>
            </a:r>
          </a:p>
          <a:p>
            <a:pPr marL="0" indent="0">
              <a:lnSpc>
                <a:spcPct val="100000"/>
              </a:lnSpc>
              <a:buNone/>
            </a:pPr>
            <a:r>
              <a:rPr lang="en-IN" sz="2400" dirty="0">
                <a:latin typeface="Times New Roman" panose="02020603050405020304" pitchFamily="18" charset="0"/>
                <a:cs typeface="Times New Roman" panose="02020603050405020304" pitchFamily="18" charset="0"/>
              </a:rPr>
              <a:t>Map gestures to commands </a:t>
            </a:r>
          </a:p>
          <a:p>
            <a:pPr>
              <a:lnSpc>
                <a:spcPct val="100000"/>
              </a:lnSpc>
            </a:pPr>
            <a:endParaRPr lang="en-IN" dirty="0"/>
          </a:p>
        </p:txBody>
      </p:sp>
      <p:sp>
        <p:nvSpPr>
          <p:cNvPr id="9" name="Content Placeholder 5">
            <a:extLst>
              <a:ext uri="{FF2B5EF4-FFF2-40B4-BE49-F238E27FC236}">
                <a16:creationId xmlns:a16="http://schemas.microsoft.com/office/drawing/2014/main" id="{938A6204-6862-0415-0D34-016D2AB90100}"/>
              </a:ext>
            </a:extLst>
          </p:cNvPr>
          <p:cNvSpPr txBox="1">
            <a:spLocks/>
          </p:cNvSpPr>
          <p:nvPr/>
        </p:nvSpPr>
        <p:spPr>
          <a:xfrm>
            <a:off x="6446520" y="789305"/>
            <a:ext cx="5410200" cy="590138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sz="2400" b="1" dirty="0">
                <a:latin typeface="Times New Roman" panose="02020603050405020304" pitchFamily="18" charset="0"/>
                <a:cs typeface="Times New Roman" panose="02020603050405020304" pitchFamily="18" charset="0"/>
              </a:rPr>
              <a:t>🔹 Phase 4: Feature Implementation</a:t>
            </a:r>
          </a:p>
          <a:p>
            <a:pPr marL="0" indent="0">
              <a:buNone/>
            </a:pPr>
            <a:r>
              <a:rPr lang="en-IN" sz="2400" dirty="0">
                <a:latin typeface="Times New Roman" panose="02020603050405020304" pitchFamily="18" charset="0"/>
                <a:cs typeface="Times New Roman" panose="02020603050405020304" pitchFamily="18" charset="0"/>
              </a:rPr>
              <a:t>Auto hover </a:t>
            </a:r>
          </a:p>
          <a:p>
            <a:pPr marL="0" indent="0">
              <a:buNone/>
            </a:pPr>
            <a:r>
              <a:rPr lang="en-IN" sz="2400" dirty="0">
                <a:latin typeface="Times New Roman" panose="02020603050405020304" pitchFamily="18" charset="0"/>
                <a:cs typeface="Times New Roman" panose="02020603050405020304" pitchFamily="18" charset="0"/>
              </a:rPr>
              <a:t>Face follow </a:t>
            </a:r>
          </a:p>
          <a:p>
            <a:pPr marL="0" indent="0">
              <a:buNone/>
            </a:pPr>
            <a:r>
              <a:rPr lang="en-IN" sz="2400" dirty="0">
                <a:latin typeface="Times New Roman" panose="02020603050405020304" pitchFamily="18" charset="0"/>
                <a:cs typeface="Times New Roman" panose="02020603050405020304" pitchFamily="18" charset="0"/>
              </a:rPr>
              <a:t>Gesture control </a:t>
            </a:r>
          </a:p>
          <a:p>
            <a:endParaRPr lang="en-IN" sz="2400" dirty="0">
              <a:latin typeface="Times New Roman" panose="02020603050405020304" pitchFamily="18" charset="0"/>
              <a:cs typeface="Times New Roman" panose="02020603050405020304" pitchFamily="18" charset="0"/>
            </a:endParaRPr>
          </a:p>
          <a:p>
            <a:pPr marL="0" indent="0">
              <a:buNone/>
            </a:pPr>
            <a:r>
              <a:rPr lang="en-IN" sz="2400" b="1" dirty="0">
                <a:latin typeface="Times New Roman" panose="02020603050405020304" pitchFamily="18" charset="0"/>
                <a:cs typeface="Times New Roman" panose="02020603050405020304" pitchFamily="18" charset="0"/>
              </a:rPr>
              <a:t>🔹 Phase 5: Testing</a:t>
            </a:r>
          </a:p>
          <a:p>
            <a:pPr marL="0" indent="0">
              <a:buNone/>
            </a:pPr>
            <a:r>
              <a:rPr lang="en-IN" sz="2400" dirty="0">
                <a:latin typeface="Times New Roman" panose="02020603050405020304" pitchFamily="18" charset="0"/>
                <a:cs typeface="Times New Roman" panose="02020603050405020304" pitchFamily="18" charset="0"/>
              </a:rPr>
              <a:t>Debug errors </a:t>
            </a:r>
          </a:p>
          <a:p>
            <a:pPr marL="0" indent="0">
              <a:buNone/>
            </a:pPr>
            <a:r>
              <a:rPr lang="en-IN" sz="2400" dirty="0">
                <a:latin typeface="Times New Roman" panose="02020603050405020304" pitchFamily="18" charset="0"/>
                <a:cs typeface="Times New Roman" panose="02020603050405020304" pitchFamily="18" charset="0"/>
              </a:rPr>
              <a:t>Improve accuracy </a:t>
            </a:r>
          </a:p>
          <a:p>
            <a:endParaRPr lang="en-IN" sz="2400" b="1" dirty="0">
              <a:latin typeface="Times New Roman" panose="02020603050405020304" pitchFamily="18" charset="0"/>
              <a:cs typeface="Times New Roman" panose="02020603050405020304" pitchFamily="18" charset="0"/>
            </a:endParaRPr>
          </a:p>
          <a:p>
            <a:pPr marL="0" indent="0">
              <a:buNone/>
            </a:pPr>
            <a:r>
              <a:rPr lang="en-IN" sz="2400" b="1" dirty="0">
                <a:latin typeface="Times New Roman" panose="02020603050405020304" pitchFamily="18" charset="0"/>
                <a:cs typeface="Times New Roman" panose="02020603050405020304" pitchFamily="18" charset="0"/>
              </a:rPr>
              <a:t>🔹 Phase 6: Finalization</a:t>
            </a:r>
          </a:p>
          <a:p>
            <a:pPr marL="0" indent="0">
              <a:buNone/>
            </a:pPr>
            <a:r>
              <a:rPr lang="en-IN" sz="2400" dirty="0">
                <a:latin typeface="Times New Roman" panose="02020603050405020304" pitchFamily="18" charset="0"/>
                <a:cs typeface="Times New Roman" panose="02020603050405020304" pitchFamily="18" charset="0"/>
              </a:rPr>
              <a:t>Automation using BAT file </a:t>
            </a:r>
          </a:p>
          <a:p>
            <a:pPr marL="0" indent="0">
              <a:buNone/>
            </a:pPr>
            <a:r>
              <a:rPr lang="en-IN" sz="2400" dirty="0">
                <a:latin typeface="Times New Roman" panose="02020603050405020304" pitchFamily="18" charset="0"/>
                <a:cs typeface="Times New Roman" panose="02020603050405020304" pitchFamily="18" charset="0"/>
              </a:rPr>
              <a:t>Documentation &amp; presentation</a:t>
            </a:r>
          </a:p>
          <a:p>
            <a:pPr marL="0" indent="0">
              <a:lnSpc>
                <a:spcPct val="100000"/>
              </a:lnSpc>
              <a:buNone/>
            </a:pPr>
            <a:endParaRPr lang="en-IN" dirty="0"/>
          </a:p>
        </p:txBody>
      </p:sp>
    </p:spTree>
    <p:extLst>
      <p:ext uri="{BB962C8B-B14F-4D97-AF65-F5344CB8AC3E}">
        <p14:creationId xmlns:p14="http://schemas.microsoft.com/office/powerpoint/2010/main" val="2728410365"/>
      </p:ext>
    </p:extLst>
  </p:cSld>
  <p:clrMapOvr>
    <a:masterClrMapping/>
  </p:clrMapOvr>
  <p:transition spd="slow">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Banded Edge">
      <a:fillStyleLst>
        <a:solidFill>
          <a:schemeClr val="phClr"/>
        </a:solidFill>
        <a:solidFill>
          <a:schemeClr val="phClr">
            <a:tint val="50000"/>
          </a:schemeClr>
        </a:solidFill>
        <a:gradFill rotWithShape="1">
          <a:gsLst>
            <a:gs pos="0">
              <a:schemeClr val="phClr"/>
            </a:gs>
            <a:gs pos="90000">
              <a:schemeClr val="phClr">
                <a:shade val="100000"/>
              </a:schemeClr>
            </a:gs>
            <a:gs pos="100000">
              <a:schemeClr val="phClr">
                <a:shade val="85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17779" dir="5400000" rotWithShape="0">
              <a:srgbClr val="000000">
                <a:alpha val="40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30000"/>
              </a:schemeClr>
            </a:contourClr>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731</TotalTime>
  <Words>1249</Words>
  <Application>Microsoft Office PowerPoint</Application>
  <PresentationFormat>Widescreen</PresentationFormat>
  <Paragraphs>162</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Aptos Display</vt:lpstr>
      <vt:lpstr>Arial</vt:lpstr>
      <vt:lpstr>Times New Roman</vt:lpstr>
      <vt:lpstr>Office Theme</vt:lpstr>
      <vt:lpstr>PowerPoint Presentation</vt:lpstr>
      <vt:lpstr>ABSTRACT </vt:lpstr>
      <vt:lpstr>PROBLEM STATEMENT</vt:lpstr>
      <vt:lpstr>PowerPoint Presentation</vt:lpstr>
      <vt:lpstr>LITERATURE SURVEY</vt:lpstr>
      <vt:lpstr>PowerPoint Presentation</vt:lpstr>
      <vt:lpstr>PowerPoint Presentation</vt:lpstr>
      <vt:lpstr>PowerPoint Presentation</vt:lpstr>
      <vt:lpstr>Design:</vt:lpstr>
      <vt:lpstr>PowerPoint Presentation</vt:lpstr>
      <vt:lpstr>PowerPoint Presentation</vt:lpstr>
      <vt:lpstr>Project Plan 2.0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Abhilash S</dc:creator>
  <cp:lastModifiedBy>S YASHAS</cp:lastModifiedBy>
  <cp:revision>11</cp:revision>
  <dcterms:created xsi:type="dcterms:W3CDTF">2026-04-29T09:32:19Z</dcterms:created>
  <dcterms:modified xsi:type="dcterms:W3CDTF">2026-05-04T10:12:36Z</dcterms:modified>
</cp:coreProperties>
</file>